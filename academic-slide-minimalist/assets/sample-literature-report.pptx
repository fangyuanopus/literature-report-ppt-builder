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theme/theme6.xml" ContentType="application/vnd.openxmlformats-officedocument.theme+xml"/>
  <Override PartName="/ppt/slideLayouts/slideLayout12.xml" ContentType="application/vnd.openxmlformats-officedocument.presentationml.slideLayout+xml"/>
  <Override PartName="/ppt/theme/theme7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2"/>
    <p:sldMasterId id="2147483654" r:id="rId3"/>
    <p:sldMasterId id="2147483658" r:id="rId4"/>
    <p:sldMasterId id="2147483660" r:id="rId5"/>
    <p:sldMasterId id="2147483663" r:id="rId6"/>
    <p:sldMasterId id="2147483665" r:id="rId7"/>
    <p:sldMasterId id="2147483667" r:id="rId8"/>
  </p:sldMasterIdLst>
  <p:notesMasterIdLst>
    <p:notesMasterId r:id="rId29"/>
  </p:notesMasterIdLst>
  <p:sldIdLst>
    <p:sldId id="278" r:id="rId9"/>
    <p:sldId id="333" r:id="rId10"/>
    <p:sldId id="256" r:id="rId11"/>
    <p:sldId id="350" r:id="rId12"/>
    <p:sldId id="327" r:id="rId13"/>
    <p:sldId id="358" r:id="rId14"/>
    <p:sldId id="360" r:id="rId15"/>
    <p:sldId id="361" r:id="rId16"/>
    <p:sldId id="303" r:id="rId17"/>
    <p:sldId id="356" r:id="rId18"/>
    <p:sldId id="344" r:id="rId19"/>
    <p:sldId id="355" r:id="rId20"/>
    <p:sldId id="354" r:id="rId21"/>
    <p:sldId id="345" r:id="rId22"/>
    <p:sldId id="307" r:id="rId23"/>
    <p:sldId id="311" r:id="rId24"/>
    <p:sldId id="359" r:id="rId25"/>
    <p:sldId id="320" r:id="rId26"/>
    <p:sldId id="321" r:id="rId27"/>
    <p:sldId id="324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5FED250-E247-4A14-9D48-9F8CE94A9C3B}">
          <p14:sldIdLst>
            <p14:sldId id="278"/>
          </p14:sldIdLst>
        </p14:section>
        <p14:section name="基本信息" id="{A96F746A-0599-472E-9793-603A9E013ADB}">
          <p14:sldIdLst>
            <p14:sldId id="333"/>
          </p14:sldIdLst>
        </p14:section>
        <p14:section name="研究背景" id="{C33B2808-5DFB-40FD-9008-1DB4BF05500A}">
          <p14:sldIdLst>
            <p14:sldId id="256"/>
            <p14:sldId id="350"/>
          </p14:sldIdLst>
        </p14:section>
        <p14:section name="研究思路" id="{30D88F32-7294-4FF3-8D67-1CFDA43A5C07}">
          <p14:sldIdLst>
            <p14:sldId id="327"/>
            <p14:sldId id="358"/>
            <p14:sldId id="360"/>
          </p14:sldIdLst>
        </p14:section>
        <p14:section name="研究结果" id="{DBD9B2FE-8C6D-47B6-AC76-453B23572AD7}">
          <p14:sldIdLst>
            <p14:sldId id="361"/>
            <p14:sldId id="303"/>
            <p14:sldId id="356"/>
            <p14:sldId id="344"/>
            <p14:sldId id="355"/>
            <p14:sldId id="354"/>
            <p14:sldId id="345"/>
            <p14:sldId id="307"/>
            <p14:sldId id="311"/>
            <p14:sldId id="359"/>
          </p14:sldIdLst>
        </p14:section>
        <p14:section name="总结启发" id="{3D17BED6-6BE5-4092-AB79-B38B16B5AE72}">
          <p14:sldIdLst>
            <p14:sldId id="320"/>
            <p14:sldId id="321"/>
          </p14:sldIdLst>
        </p14:section>
        <p14:section name="结尾页" id="{A4A2703E-5436-4CC0-BDEE-2BCE171F58BD}">
          <p14:sldIdLst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D18"/>
    <a:srgbClr val="011E5D"/>
    <a:srgbClr val="F0F1F0"/>
    <a:srgbClr val="F7F2F2"/>
    <a:srgbClr val="F0F0F0"/>
    <a:srgbClr val="EEF2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08" autoAdjust="0"/>
    <p:restoredTop sz="94737" autoAdjust="0"/>
  </p:normalViewPr>
  <p:slideViewPr>
    <p:cSldViewPr snapToObjects="1">
      <p:cViewPr>
        <p:scale>
          <a:sx n="66" d="100"/>
          <a:sy n="66" d="100"/>
        </p:scale>
        <p:origin x="1315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67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0928E-9ACF-41AC-9CC3-03BBBBBCD0E0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1AEA1-F352-4552-8E24-5BD76EF3E5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33400" y="762000"/>
            <a:ext cx="41910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04800" y="685800"/>
            <a:ext cx="8001000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86590-90B0-4030-8A0F-1ECD38F1582E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B162-C39C-4531-A940-3739D4E2C96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86590-90B0-4030-8A0F-1ECD38F1582E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B162-C39C-4531-A940-3739D4E2C96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86590-90B0-4030-8A0F-1ECD38F1582E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B162-C39C-4531-A940-3739D4E2C96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86590-90B0-4030-8A0F-1ECD38F1582E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B162-C39C-4531-A940-3739D4E2C96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86590-90B0-4030-8A0F-1ECD38F1582E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B162-C39C-4531-A940-3739D4E2C96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86590-90B0-4030-8A0F-1ECD38F1582E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B162-C39C-4531-A940-3739D4E2C96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86590-90B0-4030-8A0F-1ECD38F1582E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B162-C39C-4531-A940-3739D4E2C96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86590-90B0-4030-8A0F-1ECD38F1582E}" type="datetimeFigureOut">
              <a:rPr lang="zh-CN" altLang="en-US" smtClean="0"/>
              <a:t>2026/4/25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69B162-C39C-4531-A940-3739D4E2C96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 userDrawn="1"/>
        </p:nvGraphicFramePr>
        <p:xfrm>
          <a:off x="0" y="0"/>
          <a:ext cx="12192005" cy="554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1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kern="1200" dirty="0" err="1">
                          <a:solidFill>
                            <a:schemeClr val="bg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基本信息</a:t>
                      </a:r>
                      <a:endParaRPr lang="en-US" altLang="zh-CN" sz="1800" b="1" kern="1200" dirty="0">
                        <a:solidFill>
                          <a:schemeClr val="bg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0D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研究背景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研究思路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研究结果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总结启发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 userDrawn="1"/>
        </p:nvGraphicFramePr>
        <p:xfrm>
          <a:off x="0" y="0"/>
          <a:ext cx="12192005" cy="554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1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基本信息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kern="1200" dirty="0" err="1">
                          <a:solidFill>
                            <a:schemeClr val="bg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研究背景</a:t>
                      </a:r>
                      <a:endParaRPr lang="en-US" altLang="zh-CN" sz="1800" b="1" kern="1200" dirty="0">
                        <a:solidFill>
                          <a:schemeClr val="bg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0D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研究思路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研究结果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总结启发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 userDrawn="1"/>
        </p:nvGraphicFramePr>
        <p:xfrm>
          <a:off x="0" y="0"/>
          <a:ext cx="12192005" cy="554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1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基本信息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研究背景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kern="1200" dirty="0" err="1">
                          <a:solidFill>
                            <a:schemeClr val="bg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研究思路</a:t>
                      </a:r>
                      <a:endParaRPr lang="en-US" altLang="zh-CN" sz="1800" b="1" kern="1200" dirty="0">
                        <a:solidFill>
                          <a:schemeClr val="bg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0D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研究结果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总结启发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 userDrawn="1"/>
        </p:nvGraphicFramePr>
        <p:xfrm>
          <a:off x="0" y="0"/>
          <a:ext cx="12192005" cy="554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1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基本信息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研究背景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研究思路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kern="1200" dirty="0" err="1">
                          <a:solidFill>
                            <a:schemeClr val="bg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研究结果</a:t>
                      </a:r>
                      <a:endParaRPr lang="en-US" altLang="zh-CN" sz="1800" b="1" kern="1200" dirty="0">
                        <a:solidFill>
                          <a:schemeClr val="bg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0D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总结启发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 userDrawn="1"/>
        </p:nvGraphicFramePr>
        <p:xfrm>
          <a:off x="-5" y="0"/>
          <a:ext cx="12192005" cy="554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8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41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基本信息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研究背景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研究思路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1" kern="1200" dirty="0" err="1">
                          <a:solidFill>
                            <a:schemeClr val="tx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研究结果</a:t>
                      </a:r>
                      <a:endParaRPr lang="en-US" altLang="zh-CN" sz="1845" b="1" kern="1200" dirty="0">
                        <a:solidFill>
                          <a:schemeClr val="tx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kern="1200" dirty="0" err="1">
                          <a:solidFill>
                            <a:schemeClr val="bg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总结启发</a:t>
                      </a:r>
                      <a:endParaRPr lang="en-US" altLang="zh-CN" sz="1800" b="1" kern="1200" dirty="0">
                        <a:solidFill>
                          <a:schemeClr val="bg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0D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" name="表格 167"/>
          <p:cNvGraphicFramePr>
            <a:graphicFrameLocks noGrp="1"/>
          </p:cNvGraphicFramePr>
          <p:nvPr userDrawn="1"/>
        </p:nvGraphicFramePr>
        <p:xfrm>
          <a:off x="0" y="0"/>
          <a:ext cx="12192006" cy="554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41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0" kern="1200" dirty="0" err="1">
                          <a:solidFill>
                            <a:srgbClr val="5C5B5B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基本信息</a:t>
                      </a:r>
                      <a:endParaRPr lang="en-US" altLang="zh-CN" sz="1845" b="0" kern="1200" dirty="0">
                        <a:solidFill>
                          <a:srgbClr val="5C5B5B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0" kern="1200" dirty="0" err="1">
                          <a:solidFill>
                            <a:srgbClr val="5C5B5B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研究背景</a:t>
                      </a:r>
                      <a:endParaRPr lang="en-US" altLang="zh-CN" sz="1845" b="0" kern="1200" dirty="0">
                        <a:solidFill>
                          <a:srgbClr val="5C5B5B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0" kern="1200" dirty="0" err="1">
                          <a:solidFill>
                            <a:srgbClr val="5C5B5B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研究思路</a:t>
                      </a:r>
                      <a:endParaRPr lang="en-US" altLang="zh-CN" sz="1845" b="0" kern="1200" dirty="0">
                        <a:solidFill>
                          <a:srgbClr val="5C5B5B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0" kern="1200" dirty="0" err="1">
                          <a:solidFill>
                            <a:srgbClr val="5C5B5B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研究结果</a:t>
                      </a:r>
                      <a:endParaRPr lang="en-US" altLang="zh-CN" sz="1845" b="0" kern="1200" dirty="0">
                        <a:solidFill>
                          <a:srgbClr val="5C5B5B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945" b="1" kern="1200" dirty="0" err="1">
                          <a:solidFill>
                            <a:schemeClr val="bg1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结果分析</a:t>
                      </a:r>
                      <a:endParaRPr lang="en-US" altLang="zh-CN" sz="1945" b="1" kern="1200" dirty="0">
                        <a:solidFill>
                          <a:schemeClr val="bg1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0D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45" b="0" kern="1200" dirty="0" err="1">
                          <a:solidFill>
                            <a:srgbClr val="5C5B5B"/>
                          </a:solidFill>
                          <a:latin typeface="Noto Sans SC" panose="020B0500000000000000" pitchFamily="34" charset="-122"/>
                          <a:ea typeface="Noto Sans SC" panose="020B0500000000000000" pitchFamily="34" charset="-122"/>
                          <a:cs typeface="Noto Sans SC" panose="020B0500000000000000" pitchFamily="34" charset="-120"/>
                        </a:rPr>
                        <a:t>总结启发</a:t>
                      </a:r>
                      <a:endParaRPr lang="en-US" altLang="zh-CN" sz="1845" b="0" kern="1200" dirty="0">
                        <a:solidFill>
                          <a:srgbClr val="5C5B5B"/>
                        </a:solidFill>
                        <a:latin typeface="Noto Sans SC" panose="020B0500000000000000" pitchFamily="34" charset="-122"/>
                        <a:ea typeface="Noto Sans SC" panose="020B0500000000000000" pitchFamily="34" charset="-122"/>
                      </a:endParaRPr>
                    </a:p>
                  </a:txBody>
                  <a:tcPr marL="141211" marR="141211" marT="70606" marB="70606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1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99705" y="1368363"/>
            <a:ext cx="11692295" cy="1738693"/>
            <a:chOff x="658367" y="1298448"/>
            <a:chExt cx="11692295" cy="1738693"/>
          </a:xfrm>
        </p:grpSpPr>
        <p:sp>
          <p:nvSpPr>
            <p:cNvPr id="5" name="Text 7"/>
            <p:cNvSpPr/>
            <p:nvPr/>
          </p:nvSpPr>
          <p:spPr>
            <a:xfrm>
              <a:off x="658367" y="1298448"/>
              <a:ext cx="11692295" cy="123444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algn="ctr"/>
              <a:r>
                <a:rPr lang="en-US" altLang="zh-CN" sz="3600" b="1" dirty="0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</a:rPr>
                <a:t>A 36-ring zeolite with intrinsic cylindrical</a:t>
              </a:r>
              <a:endParaRPr lang="en-US" sz="3600" b="1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Shape 3"/>
            <p:cNvSpPr/>
            <p:nvPr/>
          </p:nvSpPr>
          <p:spPr>
            <a:xfrm>
              <a:off x="2430537" y="3037141"/>
              <a:ext cx="8208381" cy="0"/>
            </a:xfrm>
            <a:prstGeom prst="line">
              <a:avLst/>
            </a:prstGeom>
            <a:ln w="19050">
              <a:solidFill>
                <a:srgbClr val="8B0D18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969260" y="2064481"/>
              <a:ext cx="913093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5400" b="1" dirty="0">
                  <a:solidFill>
                    <a:srgbClr val="8B0D18"/>
                  </a:solidFill>
                  <a:latin typeface="微软雅黑" panose="020B0503020204020204" charset="-122"/>
                  <a:ea typeface="微软雅黑" panose="020B0503020204020204" charset="-122"/>
                </a:rPr>
                <a:t>36元环本征圆柱介孔沸石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6751893" y="3586539"/>
            <a:ext cx="364576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汇报日期：2026.04.25</a:t>
            </a:r>
          </a:p>
        </p:txBody>
      </p:sp>
      <p:sp>
        <p:nvSpPr>
          <p:cNvPr id="18" name="矩形 17"/>
          <p:cNvSpPr/>
          <p:nvPr/>
        </p:nvSpPr>
        <p:spPr>
          <a:xfrm>
            <a:off x="0" y="6397624"/>
            <a:ext cx="12192000" cy="460376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8B0D18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461342" y="3586539"/>
            <a:ext cx="267437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</a:rPr>
              <a:t>汇报人：苏俊朋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/>
          <p:cNvSpPr/>
          <p:nvPr/>
        </p:nvSpPr>
        <p:spPr>
          <a:xfrm>
            <a:off x="9231503" y="5578278"/>
            <a:ext cx="2683407" cy="998985"/>
          </a:xfrm>
          <a:prstGeom prst="rect">
            <a:avLst/>
          </a:prstGeom>
          <a:solidFill>
            <a:srgbClr val="F7F2F2"/>
          </a:solidFill>
        </p:spPr>
        <p:txBody>
          <a:bodyPr/>
          <a:lstStyle/>
          <a:p>
            <a:endParaRPr lang="zh-CN" altLang="en-US" sz="2400"/>
          </a:p>
        </p:txBody>
      </p:sp>
      <p:sp>
        <p:nvSpPr>
          <p:cNvPr id="7" name="Text 4"/>
          <p:cNvSpPr/>
          <p:nvPr/>
        </p:nvSpPr>
        <p:spPr>
          <a:xfrm>
            <a:off x="9902355" y="6037665"/>
            <a:ext cx="1319828" cy="306259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2670" b="1" dirty="0">
                <a:solidFill>
                  <a:srgbClr val="21212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NJU120-6</a:t>
            </a:r>
          </a:p>
        </p:txBody>
      </p:sp>
      <p:sp>
        <p:nvSpPr>
          <p:cNvPr id="8" name="Text 5"/>
          <p:cNvSpPr/>
          <p:nvPr/>
        </p:nvSpPr>
        <p:spPr>
          <a:xfrm>
            <a:off x="10157570" y="5702239"/>
            <a:ext cx="831273" cy="262507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lnSpcReduction="10000"/>
          </a:bodyPr>
          <a:lstStyle/>
          <a:p>
            <a:r>
              <a:rPr lang="en-US" b="1" dirty="0" err="1">
                <a:solidFill>
                  <a:srgbClr val="8B0D18"/>
                </a:solidFill>
                <a:latin typeface="+mj-lt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材料名称</a:t>
            </a:r>
            <a:endParaRPr lang="en-US" b="1" dirty="0">
              <a:solidFill>
                <a:srgbClr val="8B0D18"/>
              </a:solidFill>
              <a:latin typeface="+mj-lt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63713" y="5578278"/>
            <a:ext cx="2676115" cy="998985"/>
          </a:xfrm>
          <a:prstGeom prst="rect">
            <a:avLst/>
          </a:prstGeom>
          <a:solidFill>
            <a:srgbClr val="F7F2F2"/>
          </a:solidFill>
        </p:spPr>
        <p:txBody>
          <a:bodyPr/>
          <a:lstStyle/>
          <a:p>
            <a:endParaRPr lang="zh-CN" alt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160612" y="6044957"/>
            <a:ext cx="911483" cy="291675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2670" b="1" dirty="0">
                <a:solidFill>
                  <a:srgbClr val="21212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1173 K</a:t>
            </a:r>
          </a:p>
        </p:txBody>
      </p:sp>
      <p:sp>
        <p:nvSpPr>
          <p:cNvPr id="11" name="Text 8"/>
          <p:cNvSpPr/>
          <p:nvPr/>
        </p:nvSpPr>
        <p:spPr>
          <a:xfrm>
            <a:off x="7182488" y="5702239"/>
            <a:ext cx="823981" cy="262507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lnSpcReduction="10000"/>
          </a:bodyPr>
          <a:lstStyle/>
          <a:p>
            <a:r>
              <a:rPr lang="en-US" b="1" dirty="0" err="1">
                <a:solidFill>
                  <a:srgbClr val="8B0D18"/>
                </a:solidFill>
                <a:latin typeface="+mj-lt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热稳定性</a:t>
            </a:r>
            <a:endParaRPr lang="en-US" b="1" dirty="0">
              <a:solidFill>
                <a:srgbClr val="8B0D18"/>
              </a:solidFill>
              <a:latin typeface="+mj-lt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288632" y="5570986"/>
            <a:ext cx="2676115" cy="991693"/>
          </a:xfrm>
          <a:prstGeom prst="rect">
            <a:avLst/>
          </a:prstGeom>
          <a:solidFill>
            <a:srgbClr val="F7F2F2"/>
          </a:solidFill>
        </p:spPr>
        <p:txBody>
          <a:bodyPr/>
          <a:lstStyle/>
          <a:p>
            <a:endParaRPr lang="zh-CN" altLang="en-US" sz="2400"/>
          </a:p>
        </p:txBody>
      </p:sp>
      <p:sp>
        <p:nvSpPr>
          <p:cNvPr id="13" name="Text 10"/>
          <p:cNvSpPr/>
          <p:nvPr/>
        </p:nvSpPr>
        <p:spPr>
          <a:xfrm>
            <a:off x="3675100" y="6008498"/>
            <a:ext cx="1932344" cy="34271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2670" b="1" dirty="0">
                <a:solidFill>
                  <a:srgbClr val="21212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25.71 x 19.12</a:t>
            </a:r>
          </a:p>
        </p:txBody>
      </p:sp>
      <p:sp>
        <p:nvSpPr>
          <p:cNvPr id="14" name="Text 11"/>
          <p:cNvSpPr/>
          <p:nvPr/>
        </p:nvSpPr>
        <p:spPr>
          <a:xfrm>
            <a:off x="4200116" y="5716823"/>
            <a:ext cx="802105" cy="22604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b="1" dirty="0" err="1">
                <a:solidFill>
                  <a:srgbClr val="8B0D18"/>
                </a:solidFill>
                <a:latin typeface="+mj-lt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孔道尺寸</a:t>
            </a:r>
            <a:endParaRPr lang="en-US" b="1" dirty="0">
              <a:solidFill>
                <a:srgbClr val="8B0D18"/>
              </a:solidFill>
              <a:latin typeface="+mj-lt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06259" y="5570986"/>
            <a:ext cx="2683407" cy="998985"/>
          </a:xfrm>
          <a:prstGeom prst="rect">
            <a:avLst/>
          </a:prstGeom>
          <a:solidFill>
            <a:srgbClr val="F7F2F2"/>
          </a:solidFill>
        </p:spPr>
        <p:txBody>
          <a:bodyPr/>
          <a:lstStyle/>
          <a:p>
            <a:endParaRPr lang="zh-CN" altLang="en-US" sz="2400"/>
          </a:p>
        </p:txBody>
      </p:sp>
      <p:sp>
        <p:nvSpPr>
          <p:cNvPr id="16" name="Text 13"/>
          <p:cNvSpPr/>
          <p:nvPr/>
        </p:nvSpPr>
        <p:spPr>
          <a:xfrm>
            <a:off x="1035446" y="6023082"/>
            <a:ext cx="1188575" cy="393761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lnSpcReduction="10000"/>
          </a:bodyPr>
          <a:lstStyle/>
          <a:p>
            <a:r>
              <a:rPr lang="en-US" sz="2670" b="1" dirty="0">
                <a:solidFill>
                  <a:srgbClr val="212122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36-ring</a:t>
            </a:r>
            <a:endParaRPr lang="en-US" sz="26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66854" y="5702239"/>
            <a:ext cx="823981" cy="262507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lnSpcReduction="10000"/>
          </a:bodyPr>
          <a:lstStyle/>
          <a:p>
            <a:r>
              <a:rPr lang="en-US" b="1" dirty="0" err="1">
                <a:solidFill>
                  <a:srgbClr val="8B0D18"/>
                </a:solidFill>
                <a:latin typeface="+mj-lt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孔环大小</a:t>
            </a:r>
            <a:endParaRPr lang="en-US" b="1" dirty="0">
              <a:solidFill>
                <a:srgbClr val="8B0D18"/>
              </a:solidFill>
              <a:latin typeface="+mj-lt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331" y="3689684"/>
            <a:ext cx="5818909" cy="65627"/>
          </a:xfrm>
          <a:prstGeom prst="rect">
            <a:avLst/>
          </a:prstGeom>
        </p:spPr>
      </p:pic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9331" y="1713588"/>
            <a:ext cx="5818909" cy="6562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01206" y="3813646"/>
            <a:ext cx="5797033" cy="1356287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en-US" sz="955" b="1" dirty="0" err="1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Abstract:Stable</a:t>
            </a:r>
            <a:r>
              <a:rPr lang="en-US" sz="955" b="1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 extra-large pore zeolites are highly desirable for catalysis and molecular separation, but most remain</a:t>
            </a:r>
            <a:endParaRPr lang="en-US" sz="95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55" b="1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microporous, limiting their effectiveness for bulky substrates. Among the few extra-large pore zeolites that exhibit</a:t>
            </a:r>
            <a:endParaRPr lang="en-US" sz="95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55" b="1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mesoporosity, the pores typically form as elongated, non-circular pore aperture. We report NJUl2o-6, a stable  silicate</a:t>
            </a:r>
            <a:endParaRPr lang="en-US" sz="95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55" b="1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zeolite with an intrinsic cylindrical mesoporous system, have the currently largest 36-ring windows with a free</a:t>
            </a:r>
            <a:endParaRPr lang="en-US" sz="95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55" b="1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diameter of 25.71 Angstroms by 19.12 Angstroms. NJU120-6 exhibits the lowest framework density of 9.39 Si atoms</a:t>
            </a:r>
            <a:endParaRPr lang="en-US" sz="95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55" b="1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nm</a:t>
            </a:r>
            <a:r>
              <a:rPr lang="en-US" sz="955" b="1" baseline="30000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−3</a:t>
            </a:r>
            <a:r>
              <a:rPr lang="en-US" sz="955" b="1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 and a pore volume of 0.66 cubic centimeters per grams. It remains stable up to 1173 K and can  incorporate</a:t>
            </a:r>
            <a:endParaRPr lang="en-US" sz="95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55" b="1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aluminum and titanium, enabling superior performance in catalytic cracking and in liquid-phase alkene oxidations of</a:t>
            </a:r>
            <a:endParaRPr lang="en-US" sz="95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55" b="1" dirty="0"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18" charset="0"/>
              </a:rPr>
              <a:t>bulky molecules, respectively.</a:t>
            </a:r>
            <a:endParaRPr lang="en-US" sz="95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6001206" y="3004250"/>
            <a:ext cx="5818909" cy="597933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en-US" sz="1070" b="1" dirty="0" err="1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Jiazheng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 Sun</a:t>
            </a:r>
            <a:r>
              <a:rPr lang="en-US" altLang="zh-CN" sz="1070" b="1" baseline="30000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1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, </a:t>
            </a:r>
            <a:r>
              <a:rPr lang="en-US" sz="1070" b="1" dirty="0" err="1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Xudong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 Tian</a:t>
            </a:r>
            <a:r>
              <a:rPr lang="en-US" altLang="zh-CN" sz="1070" b="1" baseline="30000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1,</a:t>
            </a:r>
            <a:r>
              <a:rPr lang="en-US" sz="1070" b="1" baseline="30000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2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, </a:t>
            </a:r>
            <a:r>
              <a:rPr lang="en-US" sz="1070" b="1" dirty="0" err="1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Zhenghan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 Zhang</a:t>
            </a:r>
            <a:r>
              <a:rPr lang="en-US" sz="1070" b="1" baseline="30000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1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, Jing Liu³, Lei Han</a:t>
            </a:r>
            <a:r>
              <a:rPr lang="en-US" sz="1070" b="1" baseline="30000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4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, Fanrong Xu³, Han Jiang</a:t>
            </a:r>
            <a:r>
              <a:rPr lang="en-US" sz="1070" b="1" baseline="30000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2,3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,</a:t>
            </a:r>
            <a:endParaRPr lang="en-US" sz="10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Chao Ma</a:t>
            </a:r>
            <a:r>
              <a:rPr lang="en-US" sz="1070" b="1" baseline="30000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1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, Hongwei Guo²</a:t>
            </a:r>
            <a:r>
              <a:rPr lang="en-US" sz="1070" b="1" baseline="30000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,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³, Cong Lins</a:t>
            </a:r>
            <a:r>
              <a:rPr lang="en-US" altLang="zh-CN" sz="1070" b="1" baseline="30000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5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, Qike Jiang</a:t>
            </a:r>
            <a:r>
              <a:rPr lang="en-US" sz="1070" b="1" baseline="30000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6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, </a:t>
            </a:r>
            <a:r>
              <a:rPr lang="en-US" sz="1070" b="1" dirty="0" err="1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Guangchao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 Lis</a:t>
            </a:r>
            <a:r>
              <a:rPr lang="en-US" altLang="zh-CN" sz="1070" b="1" baseline="30000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5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, Tsz Woon Benedict Los</a:t>
            </a:r>
            <a:r>
              <a:rPr lang="en-US" altLang="zh-CN" sz="1070" b="1" baseline="30000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5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, Haitao</a:t>
            </a:r>
            <a:endParaRPr lang="en-US" sz="10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Song</a:t>
            </a:r>
            <a:r>
              <a:rPr lang="en-US" sz="1070" b="1" baseline="30000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4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, Wei Lin</a:t>
            </a:r>
            <a:r>
              <a:rPr lang="en-US" sz="1070" b="1" baseline="30000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4*, 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Le Xu</a:t>
            </a:r>
            <a:r>
              <a:rPr lang="en-US" sz="1070" b="1" baseline="30000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2,3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*, Jian Li</a:t>
            </a:r>
            <a:r>
              <a:rPr lang="en-US" sz="1070" b="1" baseline="30000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1,2,7</a:t>
            </a:r>
            <a:r>
              <a:rPr lang="en-US" sz="1070" b="1" dirty="0">
                <a:latin typeface="Times New Roman" panose="02020603050405020304" pitchFamily="18" charset="0"/>
                <a:ea typeface="EB Garamond" pitchFamily="34" charset="-122"/>
                <a:cs typeface="Times New Roman" panose="02020603050405020304" pitchFamily="18" charset="0"/>
              </a:rPr>
              <a:t>*</a:t>
            </a:r>
            <a:endParaRPr lang="en-US" sz="10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6001206" y="2450067"/>
            <a:ext cx="5818909" cy="357301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en-US" sz="2015" b="1" dirty="0">
                <a:solidFill>
                  <a:srgbClr val="333334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 36-ring zeolite with intrinsic cylindrical mesopores</a:t>
            </a:r>
            <a:endParaRPr lang="en-US" sz="2015" dirty="0"/>
          </a:p>
        </p:txBody>
      </p:sp>
      <p:sp>
        <p:nvSpPr>
          <p:cNvPr id="24" name="Text 19"/>
          <p:cNvSpPr/>
          <p:nvPr/>
        </p:nvSpPr>
        <p:spPr>
          <a:xfrm>
            <a:off x="10339868" y="1881302"/>
            <a:ext cx="1451081" cy="160421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en-US" sz="830" dirty="0">
                <a:solidFill>
                  <a:srgbClr val="89898A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Cite as: J. Sun et al., Science</a:t>
            </a:r>
            <a:endParaRPr lang="en-US" sz="8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10157570" y="2041723"/>
            <a:ext cx="1626087" cy="145837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lnSpcReduction="10000"/>
          </a:bodyPr>
          <a:lstStyle/>
          <a:p>
            <a:r>
              <a:rPr lang="en-US" sz="960" dirty="0">
                <a:solidFill>
                  <a:srgbClr val="7E7E7E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10.1126/science.aec4882 (2026).</a:t>
            </a:r>
            <a:endParaRPr lang="en-US" sz="960" dirty="0"/>
          </a:p>
        </p:txBody>
      </p:sp>
      <p:sp>
        <p:nvSpPr>
          <p:cNvPr id="26" name="Text 21"/>
          <p:cNvSpPr/>
          <p:nvPr/>
        </p:nvSpPr>
        <p:spPr>
          <a:xfrm>
            <a:off x="10638832" y="1451082"/>
            <a:ext cx="1152115" cy="153129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en-US" sz="930" dirty="0">
                <a:solidFill>
                  <a:srgbClr val="7B7B7C"/>
                </a:solidFill>
                <a:latin typeface="Times New Roman" panose="02020603050405020304" pitchFamily="18" charset="0"/>
                <a:ea typeface="Crimson Text" pitchFamily="34" charset="-122"/>
                <a:cs typeface="Times New Roman" panose="02020603050405020304" pitchFamily="18" charset="0"/>
              </a:rPr>
              <a:t>RESEARCH ARTICLES</a:t>
            </a:r>
            <a:endParaRPr lang="en-US" sz="9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6015789" y="1327120"/>
            <a:ext cx="911483" cy="328133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lnSpcReduction="10000"/>
          </a:bodyPr>
          <a:lstStyle/>
          <a:p>
            <a:r>
              <a:rPr lang="en-US" sz="2290" b="1" dirty="0">
                <a:solidFill>
                  <a:srgbClr val="D33851"/>
                </a:solidFill>
                <a:latin typeface="Times New Roman" panose="02020603050405020304" pitchFamily="18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Science</a:t>
            </a:r>
            <a:endParaRPr lang="en-US" sz="2290" dirty="0"/>
          </a:p>
        </p:txBody>
      </p:sp>
      <p:sp>
        <p:nvSpPr>
          <p:cNvPr id="28" name="Shape 23"/>
          <p:cNvSpPr/>
          <p:nvPr/>
        </p:nvSpPr>
        <p:spPr>
          <a:xfrm>
            <a:off x="298968" y="1223575"/>
            <a:ext cx="5403273" cy="3653225"/>
          </a:xfrm>
          <a:prstGeom prst="rect">
            <a:avLst/>
          </a:prstGeom>
          <a:solidFill>
            <a:srgbClr val="F7F2F2"/>
          </a:solidFill>
        </p:spPr>
        <p:txBody>
          <a:bodyPr/>
          <a:lstStyle/>
          <a:p>
            <a:endParaRPr lang="zh-CN" altLang="en-US" sz="2400"/>
          </a:p>
        </p:txBody>
      </p:sp>
      <p:sp>
        <p:nvSpPr>
          <p:cNvPr id="30" name="Text 24"/>
          <p:cNvSpPr/>
          <p:nvPr/>
        </p:nvSpPr>
        <p:spPr>
          <a:xfrm>
            <a:off x="452097" y="4013079"/>
            <a:ext cx="5067847" cy="787521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en-US" sz="1300" b="1" dirty="0">
                <a:latin typeface="+mj-lt"/>
                <a:ea typeface="Noto Sans SC" panose="020B0500000000000000" pitchFamily="34" charset="-122"/>
                <a:cs typeface="Noto Sans SC" panose="020B0500000000000000" pitchFamily="34" charset="-120"/>
              </a:rPr>
              <a:t>本工作报道了一种具有本征圆柱介孔的</a:t>
            </a:r>
            <a:r>
              <a:rPr lang="en-US" sz="1300" b="1" dirty="0">
                <a:latin typeface="+mj-lt"/>
                <a:ea typeface="Noto Sans SC" panose="020B0500000000000000" pitchFamily="34" charset="-122"/>
                <a:cs typeface="Times New Roman" panose="02020603050405020304" pitchFamily="18" charset="0"/>
              </a:rPr>
              <a:t>36-ring</a:t>
            </a:r>
            <a:r>
              <a:rPr lang="en-US" sz="1300" b="1" dirty="0">
                <a:latin typeface="+mj-lt"/>
                <a:ea typeface="Noto Sans SC" panose="020B0500000000000000" pitchFamily="34" charset="-122"/>
                <a:cs typeface="Noto Sans SC" panose="020B0500000000000000" pitchFamily="34" charset="-120"/>
              </a:rPr>
              <a:t>高硅沸石</a:t>
            </a:r>
            <a:r>
              <a:rPr lang="en-US" sz="1300" b="1" dirty="0">
                <a:latin typeface="+mj-lt"/>
                <a:ea typeface="Noto Sans SC" panose="020B0500000000000000" pitchFamily="34" charset="-122"/>
                <a:cs typeface="Times New Roman" panose="02020603050405020304" pitchFamily="18" charset="0"/>
              </a:rPr>
              <a:t>NJU120-6</a:t>
            </a:r>
            <a:r>
              <a:rPr lang="zh-CN" altLang="en-US" sz="1300" b="1" dirty="0">
                <a:latin typeface="+mj-lt"/>
                <a:ea typeface="Noto Sans SC" panose="020B0500000000000000" pitchFamily="34" charset="-122"/>
                <a:cs typeface="Times New Roman" panose="02020603050405020304" pitchFamily="18" charset="0"/>
              </a:rPr>
              <a:t>，</a:t>
            </a:r>
            <a:endParaRPr lang="en-US" sz="1300" b="1" dirty="0">
              <a:latin typeface="+mj-lt"/>
            </a:endParaRPr>
          </a:p>
          <a:p>
            <a:r>
              <a:rPr lang="en-US" sz="1300" b="1" dirty="0">
                <a:latin typeface="+mj-lt"/>
                <a:ea typeface="Noto Sans SC" panose="020B0500000000000000" pitchFamily="34" charset="-122"/>
                <a:cs typeface="Noto Sans SC" panose="020B0500000000000000" pitchFamily="34" charset="-120"/>
              </a:rPr>
              <a:t>该材料兼具超大孔口、较规则孔形与较高热稳定性，并可进一步通过</a:t>
            </a:r>
            <a:endParaRPr lang="en-US" sz="1300" b="1" dirty="0">
              <a:latin typeface="+mj-lt"/>
            </a:endParaRPr>
          </a:p>
          <a:p>
            <a:r>
              <a:rPr lang="en-US" sz="1300" b="1" dirty="0">
                <a:latin typeface="+mj-lt"/>
                <a:ea typeface="Noto Sans SC" panose="020B0500000000000000" pitchFamily="34" charset="-122"/>
                <a:cs typeface="Times New Roman" panose="02020603050405020304" pitchFamily="18" charset="0"/>
              </a:rPr>
              <a:t>Al/Ti</a:t>
            </a:r>
            <a:r>
              <a:rPr lang="en-US" sz="1300" b="1" dirty="0">
                <a:latin typeface="+mj-lt"/>
                <a:ea typeface="Noto Sans SC" panose="020B0500000000000000" pitchFamily="34" charset="-122"/>
                <a:cs typeface="Noto Sans SC" panose="020B0500000000000000" pitchFamily="34" charset="-120"/>
              </a:rPr>
              <a:t>异原子引入构建面向大分子反应的催化平台。</a:t>
            </a:r>
            <a:endParaRPr lang="en-US" sz="1300" b="1" dirty="0">
              <a:latin typeface="+mj-lt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411990" y="3728696"/>
            <a:ext cx="787521" cy="218756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r>
              <a:rPr lang="en-US" sz="1600" b="1" dirty="0" err="1">
                <a:solidFill>
                  <a:srgbClr val="8B0D18"/>
                </a:solidFill>
                <a:latin typeface="+mj-lt"/>
                <a:ea typeface="Noto Sans SC" panose="020B0500000000000000" pitchFamily="34" charset="-122"/>
              </a:rPr>
              <a:t>研究简介</a:t>
            </a:r>
            <a:r>
              <a:rPr lang="zh-CN" altLang="en-US" sz="1600" b="1" dirty="0">
                <a:solidFill>
                  <a:srgbClr val="8B0D18"/>
                </a:solidFill>
                <a:latin typeface="+mj-lt"/>
                <a:ea typeface="Noto Sans SC" panose="020B0500000000000000" pitchFamily="34" charset="-122"/>
              </a:rPr>
              <a:t>：</a:t>
            </a:r>
            <a:endParaRPr lang="en-US" sz="1600" b="1" dirty="0">
              <a:solidFill>
                <a:srgbClr val="8B0D18"/>
              </a:solidFill>
              <a:latin typeface="+mj-lt"/>
              <a:ea typeface="Noto Sans SC" panose="020B0500000000000000" pitchFamily="34" charset="-122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1432852" y="3210973"/>
            <a:ext cx="2712575" cy="218756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fontScale="92500" lnSpcReduction="10000"/>
          </a:bodyPr>
          <a:lstStyle/>
          <a:p>
            <a:r>
              <a:rPr lang="en-US" sz="1600" b="1" dirty="0">
                <a:latin typeface="Times New Roman" panose="02020603050405020304" pitchFamily="18" charset="0"/>
                <a:ea typeface="Noto Sans SC" panose="020B0500000000000000" pitchFamily="34" charset="-122"/>
                <a:cs typeface="Times New Roman" panose="02020603050405020304" pitchFamily="18" charset="0"/>
              </a:rPr>
              <a:t>NJU120-6/36-ring/</a:t>
            </a:r>
            <a:r>
              <a:rPr lang="en-US" sz="1600" b="1" dirty="0" err="1">
                <a:latin typeface="+mj-lt"/>
                <a:ea typeface="Noto Sans SC" panose="020B0500000000000000" pitchFamily="34" charset="-122"/>
                <a:cs typeface="Times New Roman" panose="02020603050405020304" pitchFamily="18" charset="0"/>
              </a:rPr>
              <a:t>本征圆柱介孔</a:t>
            </a:r>
            <a:endParaRPr lang="en-US" sz="16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411990" y="3196389"/>
            <a:ext cx="867732" cy="2187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700" b="1" dirty="0" err="1">
                <a:solidFill>
                  <a:srgbClr val="8B0D18"/>
                </a:solidFill>
                <a:latin typeface="+mj-lt"/>
                <a:ea typeface="Noto Sans SC" panose="020B0500000000000000" pitchFamily="34" charset="-122"/>
              </a:rPr>
              <a:t>研究对象</a:t>
            </a:r>
            <a:r>
              <a:rPr lang="en-US" sz="1700" b="1" dirty="0">
                <a:solidFill>
                  <a:srgbClr val="8B0D18"/>
                </a:solidFill>
                <a:latin typeface="+mj-lt"/>
                <a:ea typeface="Noto Sans SC" panose="020B0500000000000000" pitchFamily="34" charset="-122"/>
              </a:rPr>
              <a:t>：</a:t>
            </a:r>
          </a:p>
        </p:txBody>
      </p:sp>
      <p:sp>
        <p:nvSpPr>
          <p:cNvPr id="34" name="Text 28"/>
          <p:cNvSpPr/>
          <p:nvPr/>
        </p:nvSpPr>
        <p:spPr>
          <a:xfrm>
            <a:off x="1432852" y="2824503"/>
            <a:ext cx="2457359" cy="226048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lnSpcReduction="10000"/>
          </a:bodyPr>
          <a:lstStyle/>
          <a:p>
            <a:r>
              <a:rPr lang="en-US" sz="1600" b="1" dirty="0">
                <a:latin typeface="Times New Roman" panose="02020603050405020304" pitchFamily="18" charset="0"/>
                <a:ea typeface="Noto Sans SC" panose="020B0500000000000000" pitchFamily="34" charset="-122"/>
                <a:cs typeface="Times New Roman" panose="02020603050405020304" pitchFamily="18" charset="0"/>
              </a:rPr>
              <a:t>Jiazheng Sun, Xudong Tian 等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411990" y="2809921"/>
            <a:ext cx="466680" cy="21146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700" b="1" dirty="0" err="1">
                <a:solidFill>
                  <a:srgbClr val="8B0D18"/>
                </a:solidFill>
                <a:latin typeface="+mj-lt"/>
                <a:ea typeface="Noto Sans SC" panose="020B0500000000000000" pitchFamily="34" charset="-122"/>
              </a:rPr>
              <a:t>作者</a:t>
            </a:r>
            <a:r>
              <a:rPr lang="en-US" sz="1700" b="1" dirty="0">
                <a:solidFill>
                  <a:srgbClr val="8B0D18"/>
                </a:solidFill>
                <a:latin typeface="+mj-lt"/>
                <a:ea typeface="Noto Sans SC" panose="020B0500000000000000" pitchFamily="34" charset="-122"/>
              </a:rPr>
              <a:t>：</a:t>
            </a:r>
          </a:p>
        </p:txBody>
      </p:sp>
      <p:sp>
        <p:nvSpPr>
          <p:cNvPr id="36" name="Text 30"/>
          <p:cNvSpPr/>
          <p:nvPr/>
        </p:nvSpPr>
        <p:spPr>
          <a:xfrm>
            <a:off x="1432852" y="2408868"/>
            <a:ext cx="1997971" cy="204172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r>
              <a:rPr lang="en-US" sz="1600" b="1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10.1126/science.aec4882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411990" y="2401575"/>
            <a:ext cx="437512" cy="196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en-US" sz="1700" b="1" dirty="0">
                <a:solidFill>
                  <a:srgbClr val="8B0D18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DOI: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1432852" y="1978647"/>
            <a:ext cx="2340689" cy="226048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lnSpcReduction="10000"/>
          </a:bodyPr>
          <a:lstStyle/>
          <a:p>
            <a:r>
              <a:rPr lang="en-US" sz="1600" b="1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Science, 2026, Vol. 392, p.83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3"/>
          <p:cNvSpPr/>
          <p:nvPr/>
        </p:nvSpPr>
        <p:spPr>
          <a:xfrm>
            <a:off x="411990" y="1971356"/>
            <a:ext cx="867732" cy="218756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en-US" sz="1400" b="1" dirty="0" err="1">
                <a:solidFill>
                  <a:srgbClr val="8B0D18"/>
                </a:solidFill>
                <a:latin typeface="+mj-lt"/>
                <a:ea typeface="Noto Sans SC" panose="020B0500000000000000" pitchFamily="34" charset="-122"/>
              </a:rPr>
              <a:t>期刊信息</a:t>
            </a:r>
            <a:r>
              <a:rPr lang="en-US" sz="1400" b="1" dirty="0">
                <a:solidFill>
                  <a:srgbClr val="8B0D18"/>
                </a:solidFill>
                <a:latin typeface="+mj-lt"/>
                <a:ea typeface="Noto Sans SC" panose="020B0500000000000000" pitchFamily="34" charset="-122"/>
              </a:rPr>
              <a:t>：</a:t>
            </a:r>
          </a:p>
        </p:txBody>
      </p:sp>
      <p:sp>
        <p:nvSpPr>
          <p:cNvPr id="40" name="Text 34"/>
          <p:cNvSpPr/>
          <p:nvPr/>
        </p:nvSpPr>
        <p:spPr>
          <a:xfrm>
            <a:off x="1385452" y="1479155"/>
            <a:ext cx="4076153" cy="262507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 36-ring zeolite with intrinsic cylindrical mesopores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5"/>
          <p:cNvSpPr/>
          <p:nvPr/>
        </p:nvSpPr>
        <p:spPr>
          <a:xfrm>
            <a:off x="411990" y="1526551"/>
            <a:ext cx="860440" cy="226048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fontScale="92500" lnSpcReduction="20000"/>
          </a:bodyPr>
          <a:lstStyle/>
          <a:p>
            <a:r>
              <a:rPr lang="en-US" b="1" dirty="0" err="1">
                <a:solidFill>
                  <a:srgbClr val="8B0D18"/>
                </a:solidFill>
                <a:latin typeface="+mj-lt"/>
                <a:ea typeface="Noto Sans SC" panose="020B0500000000000000" pitchFamily="34" charset="-122"/>
                <a:cs typeface="Noto Sans SC" panose="020B0500000000000000" pitchFamily="34" charset="-120"/>
              </a:rPr>
              <a:t>论文题目</a:t>
            </a:r>
            <a:r>
              <a:rPr lang="en-US" b="1" dirty="0">
                <a:solidFill>
                  <a:srgbClr val="8B0D18"/>
                </a:solidFill>
                <a:latin typeface="+mj-lt"/>
                <a:ea typeface="Noto Sans SC" panose="020B0500000000000000" pitchFamily="34" charset="-122"/>
                <a:cs typeface="Noto Sans SC" panose="020B0500000000000000" pitchFamily="34" charset="-120"/>
              </a:rPr>
              <a:t>：</a:t>
            </a:r>
            <a:endParaRPr lang="en-US" b="1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1981365" y="1063696"/>
            <a:ext cx="9086926" cy="446177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0" name="Text 96"/>
          <p:cNvSpPr/>
          <p:nvPr/>
        </p:nvSpPr>
        <p:spPr>
          <a:xfrm>
            <a:off x="2743200" y="8186559"/>
            <a:ext cx="5155349" cy="306259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endParaRPr lang="zh-CN" altLang="en-US" sz="1675" dirty="0">
              <a:solidFill>
                <a:srgbClr val="4D4E50"/>
              </a:solidFill>
              <a:latin typeface="Noto Sans SC" panose="020B0500000000000000" pitchFamily="34" charset="-122"/>
              <a:ea typeface="Noto Sans SC" panose="020B0500000000000000" pitchFamily="34" charset="-122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2273822" y="2158393"/>
            <a:ext cx="82678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Fig. S1.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已报道超大孔沸石按环数增大的分布趋势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1962074" y="4633562"/>
            <a:ext cx="826785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Fig. S1.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已报道超大孔沸石按环数增大的分布趋势</a:t>
            </a:r>
          </a:p>
        </p:txBody>
      </p:sp>
      <p:sp>
        <p:nvSpPr>
          <p:cNvPr id="2" name="矩形 1"/>
          <p:cNvSpPr/>
          <p:nvPr/>
        </p:nvSpPr>
        <p:spPr>
          <a:xfrm>
            <a:off x="1905000" y="5544541"/>
            <a:ext cx="10130381" cy="1311473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介孔分子筛孔径大，但骨架为无定形硅，</a:t>
            </a:r>
            <a:r>
              <a:rPr lang="zh-CN" altLang="en-US" sz="24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热</a:t>
            </a:r>
            <a:r>
              <a:rPr lang="en-US" altLang="zh-CN" sz="24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4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水热稳定性不足，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不满足工业条件。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b="1" dirty="0">
              <a:solidFill>
                <a:srgbClr val="3935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虽然孔口尺寸增加，</a:t>
            </a:r>
            <a:r>
              <a:rPr lang="zh-CN" altLang="en-US" sz="24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真正稳定且进入介孔尺度的沸石仍然很少。</a:t>
            </a:r>
            <a:endParaRPr lang="en-US" altLang="zh-CN" sz="240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101" y="1229532"/>
            <a:ext cx="8394178" cy="42242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  <a:headEnd/>
            <a:tailEnd/>
          </a:ln>
          <a:effectLst>
            <a:outerShdw dir="5400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152400" y="634245"/>
            <a:ext cx="8001000" cy="9144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稳定介孔沸石稀缺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464990" y="10847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已报道超大孔沸石按环数增大的分布趋势（Fig.S1）</a:t>
            </a:r>
          </a:p>
        </p:txBody>
      </p:sp>
      <p:sp>
        <p:nvSpPr>
          <p:cNvPr id="11" name="Text 68"/>
          <p:cNvSpPr/>
          <p:nvPr/>
        </p:nvSpPr>
        <p:spPr>
          <a:xfrm>
            <a:off x="313551" y="619808"/>
            <a:ext cx="10507579" cy="46668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lnSpcReduction="10000"/>
          </a:bodyPr>
          <a:lstStyle/>
          <a:p>
            <a:endParaRPr lang="zh-CN" altLang="en-US" sz="320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: 圆角 28"/>
          <p:cNvSpPr/>
          <p:nvPr/>
        </p:nvSpPr>
        <p:spPr>
          <a:xfrm>
            <a:off x="400338" y="1168288"/>
            <a:ext cx="11639261" cy="369858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524000" y="5105400"/>
            <a:ext cx="9906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960787" y="518720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已有介孔相关沸石虽然孔口尺寸较大，但孔口多呈狭长或非圆形。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孔形不规则会限制 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bulky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分子的扩散与传质，因此仅仅增大孔径并不够。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24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大分子催化需要同时满足孔径尺度、孔口几何和骨架稳定性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2" name="文本占位符 9"/>
          <p:cNvSpPr txBox="1"/>
          <p:nvPr/>
        </p:nvSpPr>
        <p:spPr>
          <a:xfrm>
            <a:off x="152400" y="634245"/>
            <a:ext cx="8001000" cy="914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68"/>
          <p:cNvSpPr/>
          <p:nvPr/>
        </p:nvSpPr>
        <p:spPr>
          <a:xfrm>
            <a:off x="313551" y="619808"/>
            <a:ext cx="10507579" cy="46668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zh-CN" altLang="en-US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孔口几何受限</a:t>
            </a:r>
            <a:endParaRPr lang="en-US" sz="299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08" y="1200678"/>
            <a:ext cx="10921320" cy="34890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26"/>
          <p:cNvSpPr/>
          <p:nvPr/>
        </p:nvSpPr>
        <p:spPr>
          <a:xfrm>
            <a:off x="415636" y="736479"/>
            <a:ext cx="7291867" cy="379177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lnSpcReduction="10000"/>
          </a:bodyPr>
          <a:lstStyle/>
          <a:p>
            <a:endParaRPr lang="en-US" sz="262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占位符 9"/>
          <p:cNvSpPr txBox="1"/>
          <p:nvPr/>
        </p:nvSpPr>
        <p:spPr>
          <a:xfrm>
            <a:off x="152400" y="634245"/>
            <a:ext cx="8001000" cy="914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68"/>
          <p:cNvSpPr/>
          <p:nvPr/>
        </p:nvSpPr>
        <p:spPr>
          <a:xfrm>
            <a:off x="313551" y="619808"/>
            <a:ext cx="10507579" cy="46668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lnSpcReduction="10000"/>
          </a:bodyPr>
          <a:lstStyle/>
          <a:p>
            <a:r>
              <a:rPr lang="en-US" altLang="zh-CN" sz="3200" b="1" dirty="0" err="1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500000000000000" pitchFamily="34" charset="-120"/>
              </a:rPr>
              <a:t>大分子</a:t>
            </a:r>
            <a:r>
              <a:rPr lang="zh-CN" altLang="en-US" sz="32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500000000000000" pitchFamily="34" charset="-120"/>
              </a:rPr>
              <a:t>的</a:t>
            </a:r>
            <a:r>
              <a:rPr lang="en-US" altLang="zh-CN" sz="3200" b="1" dirty="0" err="1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500000000000000" pitchFamily="34" charset="-120"/>
              </a:rPr>
              <a:t>催化孔道</a:t>
            </a:r>
            <a:r>
              <a:rPr lang="zh-CN" altLang="en-US" sz="32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500000000000000" pitchFamily="34" charset="-120"/>
              </a:rPr>
              <a:t>要求</a:t>
            </a:r>
            <a:endParaRPr lang="en-US" altLang="zh-CN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98509" y="1447800"/>
            <a:ext cx="10972800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大分子反应需求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传统大孔沸石多停留在微孔尺度，难以满足大分子的扩散与转化需求。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2.孔道特征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孔道需要同时具备介孔尺度、近圆柱形孔口和高硅沸石骨架稳定性。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3.结构合成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通过设计大体积双膦鎓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OSDA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，引导合成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36R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本征圆柱介孔骨架。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26"/>
          <p:cNvSpPr/>
          <p:nvPr/>
        </p:nvSpPr>
        <p:spPr>
          <a:xfrm>
            <a:off x="415636" y="736479"/>
            <a:ext cx="7291867" cy="379177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lnSpcReduction="10000"/>
          </a:bodyPr>
          <a:lstStyle/>
          <a:p>
            <a:endParaRPr lang="en-US" sz="262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占位符 9"/>
          <p:cNvSpPr txBox="1"/>
          <p:nvPr/>
        </p:nvSpPr>
        <p:spPr>
          <a:xfrm>
            <a:off x="152400" y="634245"/>
            <a:ext cx="8001000" cy="914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 68"/>
          <p:cNvSpPr/>
          <p:nvPr/>
        </p:nvSpPr>
        <p:spPr>
          <a:xfrm>
            <a:off x="313551" y="619808"/>
            <a:ext cx="10507579" cy="46668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lnSpcReduction="10000"/>
          </a:bodyPr>
          <a:lstStyle/>
          <a:p>
            <a:r>
              <a:rPr lang="zh-CN" altLang="en-US" sz="32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验证性质</a:t>
            </a:r>
            <a:endParaRPr lang="en-US" altLang="zh-CN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98509" y="1235252"/>
            <a:ext cx="10972800" cy="5539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骨架合成</a:t>
            </a:r>
            <a:b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利用双膦鎓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OSDA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合成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NJU120-6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，获得具有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36R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窗口的高硅沸石骨架。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2.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结构确认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结合 </a:t>
            </a:r>
            <a:r>
              <a:rPr lang="en-US" altLang="zh-CN" sz="2000" b="1" dirty="0" err="1">
                <a:latin typeface="微软雅黑" panose="020B0503020204020204" charset="-122"/>
                <a:ea typeface="微软雅黑" panose="020B0503020204020204" charset="-122"/>
              </a:rPr>
              <a:t>cRED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Rietveld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精修和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STEM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，确认一维直通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36R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孔道真实存在。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3.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孔道与稳定性验证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通过气体吸附、孔径分布和高温处理，验证本征介孔特征与热稳定性。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4.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性能验证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进一步引入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Al/Ti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构建酸性位和氧化活性位，验证其大分子催化应用潜力。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3620" y="1119680"/>
            <a:ext cx="12039600" cy="5603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1.OSDA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链长筛选：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OSDA-DP-C4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为导向剂，在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175°C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下水热晶化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40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天，只得到混相样品。将中间链段由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C4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延长为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C5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，采用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OSDA-DP-C5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后，成功获得纯相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NJU120-6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纯硅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NJU120-6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含氟体系合成：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凝胶组成为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 1 SiO</a:t>
            </a:r>
            <a:r>
              <a:rPr lang="en-US" altLang="zh-CN" b="1" baseline="-250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: 0.25 OSDA(OH)</a:t>
            </a:r>
            <a:r>
              <a:rPr lang="en-US" altLang="zh-CN" b="1" baseline="-250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: 0.3 HF : 5 H</a:t>
            </a:r>
            <a:r>
              <a:rPr lang="en-US" altLang="zh-CN" b="1" baseline="-250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O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；以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 TEOS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为硅源，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90</a:t>
            </a:r>
            <a:r>
              <a:rPr lang="en-US" altLang="en-US" b="1" dirty="0">
                <a:latin typeface="微软雅黑" panose="020B0503020204020204" charset="-122"/>
                <a:ea typeface="微软雅黑" panose="020B0503020204020204" charset="-122"/>
              </a:rPr>
              <a:t>°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C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蒸水后，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175</a:t>
            </a:r>
            <a:r>
              <a:rPr lang="en-US" altLang="en-US" b="1" dirty="0">
                <a:latin typeface="微软雅黑" panose="020B0503020204020204" charset="-122"/>
                <a:ea typeface="微软雅黑" panose="020B0503020204020204" charset="-122"/>
              </a:rPr>
              <a:t>°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C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静态晶化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 25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天得到纯硅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 NJU120-6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3.Al-NJU120-6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无氟体系制备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b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凝胶组成为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 1 SiO</a:t>
            </a:r>
            <a:r>
              <a:rPr lang="en-US" altLang="zh-CN" b="1" baseline="-250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 : 0.02 AlO</a:t>
            </a:r>
            <a:r>
              <a:rPr lang="en-US" altLang="zh-CN" b="1" baseline="-25000" dirty="0">
                <a:latin typeface="微软雅黑" panose="020B0503020204020204" charset="-122"/>
                <a:ea typeface="微软雅黑" panose="020B0503020204020204" charset="-122"/>
              </a:rPr>
              <a:t>1.5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: 0.3 OSDA(OH)</a:t>
            </a:r>
            <a:r>
              <a:rPr lang="en-US" altLang="en-US" b="1" baseline="-250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b="1" baseline="-25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: 3 H</a:t>
            </a:r>
            <a:r>
              <a:rPr lang="en-US" altLang="zh-CN" b="1" baseline="-250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O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；以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 TEOS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和异丙醇铝为原料，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190</a:t>
            </a:r>
            <a:r>
              <a:rPr lang="en-US" altLang="en-US" b="1" dirty="0">
                <a:latin typeface="微软雅黑" panose="020B0503020204020204" charset="-122"/>
                <a:ea typeface="微软雅黑" panose="020B0503020204020204" charset="-122"/>
              </a:rPr>
              <a:t>°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C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晶化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天得到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 Al-NJU120-6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；加入晶种并升温后可缩短至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天。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加入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10%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晶种后，结晶时间还可缩短到约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5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天。合成后的样品经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600°C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空气中煅烧去模板，再用 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80°C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热水洗涤至中性，以去除孔道中的残余磷物种。</a:t>
            </a:r>
            <a:br>
              <a:rPr lang="en-US" altLang="zh-CN" sz="1600" b="1" dirty="0">
                <a:latin typeface="Noto Sans CJK SC"/>
                <a:ea typeface="微软雅黑" panose="020B0503020204020204" charset="-122"/>
                <a:cs typeface="Times New Roman" panose="02020603050405020304" pitchFamily="18" charset="0"/>
              </a:rPr>
            </a:b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4.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去模板与去磷后处理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b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600</a:t>
            </a:r>
            <a:r>
              <a:rPr lang="en-US" altLang="en-US" b="1" dirty="0">
                <a:latin typeface="微软雅黑" panose="020B0503020204020204" charset="-122"/>
                <a:ea typeface="微软雅黑" panose="020B0503020204020204" charset="-122"/>
              </a:rPr>
              <a:t>°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C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空气煅烧去除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 OSDA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，随后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 80</a:t>
            </a:r>
            <a:r>
              <a:rPr lang="en-US" altLang="en-US" b="1" dirty="0">
                <a:latin typeface="微软雅黑" panose="020B0503020204020204" charset="-122"/>
                <a:ea typeface="微软雅黑" panose="020B0503020204020204" charset="-122"/>
              </a:rPr>
              <a:t>°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C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热水洗涤至中性，以去除残余磷物种并开放孔道。</a:t>
            </a:r>
          </a:p>
        </p:txBody>
      </p:sp>
      <p:sp>
        <p:nvSpPr>
          <p:cNvPr id="5" name="Text 68"/>
          <p:cNvSpPr/>
          <p:nvPr/>
        </p:nvSpPr>
        <p:spPr>
          <a:xfrm>
            <a:off x="313551" y="619808"/>
            <a:ext cx="10507579" cy="46668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lnSpcReduction="10000"/>
          </a:bodyPr>
          <a:lstStyle/>
          <a:p>
            <a:r>
              <a:rPr lang="zh-CN" altLang="en-US" sz="32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具体制备方法</a:t>
            </a:r>
            <a:endParaRPr lang="en-US" altLang="zh-CN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613634" y="4231740"/>
            <a:ext cx="9073587" cy="1846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1. Fig.1B-C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显示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NJU120-6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具有 </a:t>
            </a:r>
            <a:r>
              <a:rPr lang="en-US" altLang="zh-CN" sz="20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36R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孔道，孔口自由尺寸为</a:t>
            </a:r>
            <a:r>
              <a:rPr lang="en-US" altLang="zh-CN" sz="20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25.71Å×19.12Å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2.Fig.2A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显示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NJU120-6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骨架由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t-</a:t>
            </a:r>
            <a:r>
              <a:rPr lang="en-US" altLang="zh-CN" sz="2000" b="1" dirty="0" err="1">
                <a:latin typeface="微软雅黑" panose="020B0503020204020204" charset="-122"/>
                <a:ea typeface="微软雅黑" panose="020B0503020204020204" charset="-122"/>
              </a:rPr>
              <a:t>sgt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t-</a:t>
            </a:r>
            <a:r>
              <a:rPr lang="en-US" altLang="zh-CN" sz="2000" b="1" dirty="0" err="1">
                <a:latin typeface="微软雅黑" panose="020B0503020204020204" charset="-122"/>
                <a:ea typeface="微软雅黑" panose="020B0503020204020204" charset="-122"/>
              </a:rPr>
              <a:t>ewt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[5</a:t>
            </a:r>
            <a:r>
              <a:rPr lang="en-US" altLang="zh-CN" sz="2000" b="1" baseline="300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en-US" altLang="zh-CN" sz="2000" b="1" baseline="300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]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等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cage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单元构成。</a:t>
            </a:r>
            <a:b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</a:br>
            <a:endParaRPr lang="zh-CN" altLang="en-US" sz="200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20521" y="1058282"/>
            <a:ext cx="12059812" cy="2827918"/>
            <a:chOff x="174171" y="996857"/>
            <a:chExt cx="11496063" cy="269572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4171" y="996857"/>
              <a:ext cx="6229348" cy="2385396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978966" y="3323249"/>
              <a:ext cx="61287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微软雅黑" panose="020B0503020204020204" charset="-122"/>
                  <a:ea typeface="微软雅黑" panose="020B0503020204020204" charset="-122"/>
                </a:rPr>
                <a:t>Fig. 1B–C 36R </a:t>
              </a: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</a:rPr>
                <a:t>孔道整体结构与孔口自由尺寸</a:t>
              </a: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07760" y="1680153"/>
              <a:ext cx="4562474" cy="1018804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9089571" y="3323249"/>
              <a:ext cx="147773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latin typeface="微软雅黑" panose="020B0503020204020204" charset="-122"/>
                  <a:ea typeface="微软雅黑" panose="020B0503020204020204" charset="-122"/>
                </a:rPr>
                <a:t>Fig. 2A</a:t>
              </a:r>
              <a:endParaRPr lang="zh-CN" altLang="en-US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3" name="Text 68"/>
          <p:cNvSpPr/>
          <p:nvPr/>
        </p:nvSpPr>
        <p:spPr>
          <a:xfrm>
            <a:off x="313551" y="619808"/>
            <a:ext cx="10507579" cy="46668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en-US" altLang="zh-CN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NJU120-6</a:t>
            </a:r>
            <a:r>
              <a:rPr lang="zh-CN" altLang="en-US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的组成单元与孔口尺寸</a:t>
            </a:r>
            <a:endParaRPr lang="en-US" sz="299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7965589" y="1193967"/>
            <a:ext cx="4037730" cy="453938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500000000000000" pitchFamily="34" charset="-120"/>
              </a:rPr>
              <a:t>1.Fig.2B-C显示孔口由36个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500000000000000" pitchFamily="34" charset="-120"/>
              </a:rPr>
              <a:t>硅</a:t>
            </a:r>
            <a:r>
              <a:rPr lang="en-US" altLang="zh-CN" sz="21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原子围成，并沿ｃ轴形成一维直通通道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br>
              <a:rPr lang="en-US" altLang="zh-CN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2. Fig.2D-E中iDPC-STEM/ADF-</a:t>
            </a:r>
            <a:r>
              <a:rPr lang="en-US" altLang="zh-CN" sz="21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STEM观察到规则孔阵列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与结构模型一致，证明</a:t>
            </a:r>
            <a:r>
              <a:rPr lang="en-US" altLang="zh-CN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NJU120-6 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具有晶体学有序的 </a:t>
            </a:r>
            <a:r>
              <a:rPr lang="en-US" altLang="zh-CN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36R 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孔道</a:t>
            </a:r>
            <a:r>
              <a:rPr lang="en-US" altLang="zh-CN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199615" y="1193967"/>
            <a:ext cx="7483676" cy="4539386"/>
            <a:chOff x="364994" y="1869924"/>
            <a:chExt cx="6875427" cy="4170438"/>
          </a:xfrm>
        </p:grpSpPr>
        <p:sp>
          <p:nvSpPr>
            <p:cNvPr id="7" name="矩形: 圆角 6"/>
            <p:cNvSpPr/>
            <p:nvPr/>
          </p:nvSpPr>
          <p:spPr>
            <a:xfrm>
              <a:off x="364994" y="1869924"/>
              <a:ext cx="6875427" cy="41704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165100" algn="ctr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25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34507" y="3696977"/>
              <a:ext cx="1844843" cy="1480249"/>
            </a:xfrm>
            <a:prstGeom prst="rect">
              <a:avLst/>
            </a:prstGeom>
          </p:spPr>
        </p:pic>
        <p:pic>
          <p:nvPicPr>
            <p:cNvPr id="26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9301" y="5038680"/>
              <a:ext cx="437512" cy="36459"/>
            </a:xfrm>
            <a:prstGeom prst="rect">
              <a:avLst/>
            </a:prstGeom>
          </p:spPr>
        </p:pic>
        <p:sp>
          <p:nvSpPr>
            <p:cNvPr id="28" name="Text 21"/>
            <p:cNvSpPr/>
            <p:nvPr/>
          </p:nvSpPr>
          <p:spPr>
            <a:xfrm>
              <a:off x="4936594" y="3769895"/>
              <a:ext cx="109377" cy="160421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 fontScale="92500" lnSpcReduction="20000"/>
            </a:bodyPr>
            <a:lstStyle/>
            <a:p>
              <a:pPr algn="ctr"/>
              <a:r>
                <a:rPr lang="en-US" sz="1420" b="1" dirty="0">
                  <a:solidFill>
                    <a:srgbClr val="B1C2E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</a:t>
              </a:r>
              <a:endParaRPr lang="en-US" sz="1420" dirty="0"/>
            </a:p>
          </p:txBody>
        </p:sp>
        <p:pic>
          <p:nvPicPr>
            <p:cNvPr id="29" name="Image 5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41799" y="2428192"/>
              <a:ext cx="1830259" cy="1217741"/>
            </a:xfrm>
            <a:prstGeom prst="rect">
              <a:avLst/>
            </a:prstGeom>
          </p:spPr>
        </p:pic>
        <p:sp>
          <p:nvSpPr>
            <p:cNvPr id="31" name="Text 22"/>
            <p:cNvSpPr/>
            <p:nvPr/>
          </p:nvSpPr>
          <p:spPr>
            <a:xfrm>
              <a:off x="4922010" y="2486528"/>
              <a:ext cx="123961" cy="167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 fontScale="92500" lnSpcReduction="10000"/>
            </a:bodyPr>
            <a:lstStyle/>
            <a:p>
              <a:pPr algn="ctr"/>
              <a:r>
                <a:rPr lang="en-US" sz="1365" b="1" dirty="0">
                  <a:solidFill>
                    <a:srgbClr val="C9D5EA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</a:t>
              </a:r>
              <a:endParaRPr lang="en-US" sz="1365" dirty="0"/>
            </a:p>
          </p:txBody>
        </p:sp>
        <p:pic>
          <p:nvPicPr>
            <p:cNvPr id="32" name="Image 7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4393" y="2362564"/>
              <a:ext cx="4112612" cy="2931331"/>
            </a:xfrm>
            <a:prstGeom prst="rect">
              <a:avLst/>
            </a:prstGeom>
          </p:spPr>
        </p:pic>
        <p:pic>
          <p:nvPicPr>
            <p:cNvPr id="33" name="Image 8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725129" y="2420901"/>
              <a:ext cx="14584" cy="2814660"/>
            </a:xfrm>
            <a:prstGeom prst="rect">
              <a:avLst/>
            </a:prstGeom>
          </p:spPr>
        </p:pic>
        <p:pic>
          <p:nvPicPr>
            <p:cNvPr id="34" name="Image 9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945914" y="2479235"/>
              <a:ext cx="1713588" cy="2479235"/>
            </a:xfrm>
            <a:prstGeom prst="rect">
              <a:avLst/>
            </a:prstGeom>
          </p:spPr>
        </p:pic>
        <p:pic>
          <p:nvPicPr>
            <p:cNvPr id="35" name="Image 10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75082" y="2581320"/>
              <a:ext cx="1640669" cy="1472957"/>
            </a:xfrm>
            <a:prstGeom prst="rect">
              <a:avLst/>
            </a:prstGeom>
          </p:spPr>
        </p:pic>
        <p:sp>
          <p:nvSpPr>
            <p:cNvPr id="36" name="Text 23"/>
            <p:cNvSpPr/>
            <p:nvPr/>
          </p:nvSpPr>
          <p:spPr>
            <a:xfrm>
              <a:off x="2851120" y="2581321"/>
              <a:ext cx="145837" cy="204172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 fontScale="92500" lnSpcReduction="10000"/>
            </a:bodyPr>
            <a:lstStyle/>
            <a:p>
              <a:pPr algn="ctr"/>
              <a:r>
                <a:rPr lang="en-US" sz="1580" dirty="0">
                  <a:solidFill>
                    <a:srgbClr val="2E2D2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</a:t>
              </a:r>
              <a:endParaRPr lang="en-US" sz="1580" dirty="0"/>
            </a:p>
          </p:txBody>
        </p:sp>
        <p:pic>
          <p:nvPicPr>
            <p:cNvPr id="37" name="Image 11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727157" y="2420900"/>
              <a:ext cx="14584" cy="2821952"/>
            </a:xfrm>
            <a:prstGeom prst="rect">
              <a:avLst/>
            </a:prstGeom>
          </p:spPr>
        </p:pic>
        <p:sp>
          <p:nvSpPr>
            <p:cNvPr id="38" name="Text 24"/>
            <p:cNvSpPr/>
            <p:nvPr/>
          </p:nvSpPr>
          <p:spPr>
            <a:xfrm>
              <a:off x="1093781" y="4754297"/>
              <a:ext cx="1108364" cy="1895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/>
            </a:bodyPr>
            <a:lstStyle/>
            <a:p>
              <a:r>
                <a:rPr lang="en-US" sz="1110" dirty="0">
                  <a:solidFill>
                    <a:srgbClr val="3D3D3D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[424548618362]</a:t>
              </a:r>
              <a:endParaRPr lang="en-US" sz="1110" dirty="0"/>
            </a:p>
          </p:txBody>
        </p:sp>
        <p:pic>
          <p:nvPicPr>
            <p:cNvPr id="39" name="Image 12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65645" y="2508401"/>
              <a:ext cx="1706296" cy="2224019"/>
            </a:xfrm>
            <a:prstGeom prst="rect">
              <a:avLst/>
            </a:prstGeom>
          </p:spPr>
        </p:pic>
        <p:sp>
          <p:nvSpPr>
            <p:cNvPr id="40" name="Text 25"/>
            <p:cNvSpPr/>
            <p:nvPr/>
          </p:nvSpPr>
          <p:spPr>
            <a:xfrm>
              <a:off x="729187" y="2588613"/>
              <a:ext cx="145837" cy="1895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 fontScale="92500" lnSpcReduction="10000"/>
            </a:bodyPr>
            <a:lstStyle/>
            <a:p>
              <a:pPr algn="ctr"/>
              <a:r>
                <a:rPr lang="en-US" sz="1660" b="1" dirty="0">
                  <a:solidFill>
                    <a:srgbClr val="2A2A2B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</a:t>
              </a:r>
              <a:endParaRPr lang="en-US" sz="1660" dirty="0"/>
            </a:p>
          </p:txBody>
        </p:sp>
        <p:sp>
          <p:nvSpPr>
            <p:cNvPr id="43" name="Text 28"/>
            <p:cNvSpPr/>
            <p:nvPr/>
          </p:nvSpPr>
          <p:spPr>
            <a:xfrm>
              <a:off x="1487541" y="2172977"/>
              <a:ext cx="65627" cy="189588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55" dirty="0">
                  <a:solidFill>
                    <a:srgbClr val="A8B8E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|</a:t>
              </a:r>
              <a:endParaRPr lang="en-US" sz="1055" dirty="0"/>
            </a:p>
          </p:txBody>
        </p:sp>
        <p:sp>
          <p:nvSpPr>
            <p:cNvPr id="45" name="Text 30"/>
            <p:cNvSpPr/>
            <p:nvPr/>
          </p:nvSpPr>
          <p:spPr>
            <a:xfrm>
              <a:off x="1478416" y="5432440"/>
              <a:ext cx="4980344" cy="262507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/>
            </a:bodyPr>
            <a:lstStyle/>
            <a:p>
              <a:r>
                <a:rPr lang="en-US" sz="1280" b="1" dirty="0">
                  <a:latin typeface="微软雅黑" panose="020B0503020204020204" charset="-122"/>
                  <a:ea typeface="微软雅黑" panose="020B0503020204020204" charset="-122"/>
                  <a:cs typeface="Noto Sans SC" panose="020B0500000000000000" pitchFamily="34" charset="-120"/>
                </a:rPr>
                <a:t>Fig.2B-C显示孔道结构；Fig.2D-E直接观察到规则孔阵列。</a:t>
              </a:r>
              <a:endParaRPr lang="en-US" sz="128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Text 31"/>
            <p:cNvSpPr/>
            <p:nvPr/>
          </p:nvSpPr>
          <p:spPr>
            <a:xfrm>
              <a:off x="4922010" y="4827216"/>
              <a:ext cx="481263" cy="167713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 lnSpcReduction="10000"/>
            </a:bodyPr>
            <a:lstStyle/>
            <a:p>
              <a:r>
                <a:rPr lang="en-US" sz="1240" b="1" dirty="0">
                  <a:solidFill>
                    <a:srgbClr val="B8B9B9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20 nm</a:t>
              </a:r>
              <a:endParaRPr lang="en-US" sz="1240" dirty="0"/>
            </a:p>
          </p:txBody>
        </p:sp>
        <p:sp>
          <p:nvSpPr>
            <p:cNvPr id="47" name="Text 32"/>
            <p:cNvSpPr/>
            <p:nvPr/>
          </p:nvSpPr>
          <p:spPr>
            <a:xfrm>
              <a:off x="4878259" y="3346967"/>
              <a:ext cx="430220" cy="19688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 lnSpcReduction="10000"/>
            </a:bodyPr>
            <a:lstStyle/>
            <a:p>
              <a:r>
                <a:rPr lang="en-US" sz="1560" b="1" dirty="0">
                  <a:solidFill>
                    <a:srgbClr val="C1C1C1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5nm</a:t>
              </a:r>
              <a:endParaRPr lang="en-US" sz="1560" dirty="0"/>
            </a:p>
          </p:txBody>
        </p:sp>
      </p:grpSp>
      <p:sp>
        <p:nvSpPr>
          <p:cNvPr id="88" name="Text 68"/>
          <p:cNvSpPr/>
          <p:nvPr/>
        </p:nvSpPr>
        <p:spPr>
          <a:xfrm>
            <a:off x="313551" y="619808"/>
            <a:ext cx="10507579" cy="46668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en-US" altLang="zh-CN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NJU120-6</a:t>
            </a:r>
            <a:r>
              <a:rPr lang="zh-CN" altLang="en-US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的孔道结构</a:t>
            </a:r>
            <a:endParaRPr lang="en-US" sz="299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843460"/>
            <a:ext cx="6513876" cy="224161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380996" y="3165676"/>
            <a:ext cx="3972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Fig.S19 OSDA在36R孔道中的定位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18" y="1116765"/>
            <a:ext cx="5934652" cy="1695008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447800" y="3108927"/>
            <a:ext cx="3276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Fig.S3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双膦鎓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OSDA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分子设计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14400" y="3886200"/>
            <a:ext cx="10668000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Fig.S3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显示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OSDA-DP-C4/C5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为双膦鎓二阳离子，具有刚性金刚烷基头部与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C4/C5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烷基链，能够填充并支撑超大孔空间。</a:t>
            </a:r>
            <a:endParaRPr lang="en-US" altLang="zh-CN" sz="21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Fig.S19A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中差异电子密度主要分布在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36R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孔道内部；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Fig.S19B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中可以看到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OSDA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在孔道中的位置。</a:t>
            </a:r>
            <a:endParaRPr lang="en-US" altLang="zh-CN" sz="21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OSDA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的尺寸与构型和</a:t>
            </a:r>
            <a:r>
              <a:rPr lang="en-US" altLang="zh-CN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36R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孔道空间匹配。</a:t>
            </a:r>
            <a:endParaRPr lang="en-US" altLang="zh-CN" sz="210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AutoNum type="arabicPeriod"/>
            </a:pPr>
            <a:endParaRPr lang="en-US" altLang="zh-CN" sz="210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 68"/>
          <p:cNvSpPr/>
          <p:nvPr/>
        </p:nvSpPr>
        <p:spPr>
          <a:xfrm>
            <a:off x="313551" y="619808"/>
            <a:ext cx="10507579" cy="4666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r>
              <a:rPr lang="zh-CN" altLang="en-US" sz="29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OSDA与36R孔道的空间匹配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矩形: 圆角 119"/>
          <p:cNvSpPr/>
          <p:nvPr/>
        </p:nvSpPr>
        <p:spPr>
          <a:xfrm>
            <a:off x="194037" y="1563094"/>
            <a:ext cx="7503330" cy="43406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5" name="Text 68"/>
          <p:cNvSpPr/>
          <p:nvPr/>
        </p:nvSpPr>
        <p:spPr>
          <a:xfrm>
            <a:off x="313551" y="619808"/>
            <a:ext cx="10507579" cy="46668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 fontScale="97500"/>
          </a:bodyPr>
          <a:lstStyle/>
          <a:p>
            <a:r>
              <a:rPr lang="zh-CN" altLang="en-US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本征介孔特征</a:t>
            </a:r>
          </a:p>
        </p:txBody>
      </p:sp>
      <p:grpSp>
        <p:nvGrpSpPr>
          <p:cNvPr id="121" name="组合 120"/>
          <p:cNvGrpSpPr/>
          <p:nvPr/>
        </p:nvGrpSpPr>
        <p:grpSpPr>
          <a:xfrm>
            <a:off x="194037" y="1995670"/>
            <a:ext cx="8367852" cy="2907858"/>
            <a:chOff x="342718" y="2508402"/>
            <a:chExt cx="8451126" cy="2936798"/>
          </a:xfrm>
        </p:grpSpPr>
        <p:sp>
          <p:nvSpPr>
            <p:cNvPr id="28" name="Text 21"/>
            <p:cNvSpPr/>
            <p:nvPr/>
          </p:nvSpPr>
          <p:spPr>
            <a:xfrm>
              <a:off x="377281" y="5202950"/>
              <a:ext cx="8416563" cy="242250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365" b="1" dirty="0">
                  <a:latin typeface="微软雅黑" panose="020B0503020204020204" charset="-122"/>
                  <a:ea typeface="微软雅黑" panose="020B0503020204020204" charset="-122"/>
                  <a:cs typeface="Noto Sans SC" panose="020B0500000000000000" pitchFamily="34" charset="-120"/>
                </a:rPr>
                <a:t>Fig.4A显示Ar吸附-脱附等温线                  Fig.4B给出累积孔容与NLDFT孔径分布。</a:t>
              </a:r>
              <a:endParaRPr lang="en-US" sz="1365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88" name="图片 8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2718" y="2508402"/>
              <a:ext cx="3675904" cy="2581316"/>
            </a:xfrm>
            <a:prstGeom prst="rect">
              <a:avLst/>
            </a:prstGeom>
          </p:spPr>
        </p:pic>
        <p:pic>
          <p:nvPicPr>
            <p:cNvPr id="91" name="图片 9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5688" y="2543914"/>
              <a:ext cx="3890360" cy="2508084"/>
            </a:xfrm>
            <a:prstGeom prst="rect">
              <a:avLst/>
            </a:prstGeom>
          </p:spPr>
        </p:pic>
      </p:grpSp>
      <p:sp>
        <p:nvSpPr>
          <p:cNvPr id="119" name="矩形: 圆角 118"/>
          <p:cNvSpPr/>
          <p:nvPr/>
        </p:nvSpPr>
        <p:spPr>
          <a:xfrm>
            <a:off x="7914420" y="1563094"/>
            <a:ext cx="4083543" cy="43406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低压区 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P/P₀ 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很小时吸附量迅速上升，后达到一个平台期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表明具有介孔材料的吸附特征。</a:t>
            </a:r>
            <a:endParaRPr lang="en-US" altLang="zh-CN" sz="210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en-US" altLang="zh-CN" sz="2100" b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NLDFT结果显示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孔径分布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集中在约2.6nm,</a:t>
            </a:r>
            <a:r>
              <a:rPr lang="en-US" altLang="zh-CN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表明孔径分布集中且位于介孔范围。</a:t>
            </a: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2.6nm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的尺寸对应晶体结构中的</a:t>
            </a:r>
            <a:r>
              <a:rPr lang="en-US" altLang="zh-CN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36R </a:t>
            </a:r>
            <a:r>
              <a:rPr lang="zh-CN" altLang="en-US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孔道尺寸，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证明</a:t>
            </a:r>
            <a:r>
              <a:rPr lang="en-US" altLang="zh-CN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NJU120-6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具有本征介孔。</a:t>
            </a:r>
            <a:endParaRPr lang="en-US" altLang="zh-CN" sz="210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68"/>
          <p:cNvSpPr/>
          <p:nvPr/>
        </p:nvSpPr>
        <p:spPr>
          <a:xfrm>
            <a:off x="313551" y="619808"/>
            <a:ext cx="10507579" cy="46668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zh-CN" altLang="en-US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热稳定性</a:t>
            </a:r>
            <a:endParaRPr lang="en-US" altLang="zh-CN" sz="299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95400" y="4319462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Fig. S23. PXRD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图谱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705600" y="4319462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Fig. S24. N₂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吸附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脱附等温线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(77K)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14400" y="4991625"/>
            <a:ext cx="10668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Fig.S23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中，样品经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600-900°C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阶梯煅烧后仍保留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NJU120-6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的特征峰，表明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NJU120-6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的晶体骨架具有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热稳定性。</a:t>
            </a:r>
            <a:endParaRPr lang="en-US" altLang="zh-CN" sz="210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Fig.S24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中，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873K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1173K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处理后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NJU120-6 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N2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的吸附量仍然很高，且吸附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脱附之间存在一定差异，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表明高温处理后保持介孔吸附的特征，具有热稳定性。</a:t>
            </a:r>
            <a:endParaRPr lang="en-US" altLang="zh-CN" sz="210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665" y="1200866"/>
            <a:ext cx="7436254" cy="293059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90" y="1352282"/>
            <a:ext cx="4662512" cy="29305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>
            <a:off x="2286001" y="762000"/>
            <a:ext cx="9423400" cy="4636532"/>
            <a:chOff x="2286001" y="955235"/>
            <a:chExt cx="9423400" cy="4636532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11799" y="955235"/>
              <a:ext cx="6197602" cy="4287382"/>
            </a:xfrm>
            <a:prstGeom prst="rect">
              <a:avLst/>
            </a:prstGeom>
          </p:spPr>
        </p:pic>
        <p:grpSp>
          <p:nvGrpSpPr>
            <p:cNvPr id="27" name="组合 26"/>
            <p:cNvGrpSpPr/>
            <p:nvPr/>
          </p:nvGrpSpPr>
          <p:grpSpPr>
            <a:xfrm>
              <a:off x="2286001" y="5208643"/>
              <a:ext cx="8488703" cy="383124"/>
              <a:chOff x="2286001" y="5208643"/>
              <a:chExt cx="8488703" cy="383124"/>
            </a:xfrm>
          </p:grpSpPr>
          <p:sp>
            <p:nvSpPr>
              <p:cNvPr id="23" name="文本框 22"/>
              <p:cNvSpPr txBox="1"/>
              <p:nvPr/>
            </p:nvSpPr>
            <p:spPr>
              <a:xfrm>
                <a:off x="2286001" y="5222435"/>
                <a:ext cx="228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微软雅黑" panose="020B0503020204020204" charset="-122"/>
                    <a:ea typeface="微软雅黑" panose="020B0503020204020204" charset="-122"/>
                  </a:rPr>
                  <a:t>Fig. S27</a:t>
                </a:r>
                <a:endParaRPr lang="zh-CN" altLang="en-US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8488704" y="5208643"/>
                <a:ext cx="228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>
                    <a:latin typeface="微软雅黑" panose="020B0503020204020204" charset="-122"/>
                    <a:ea typeface="微软雅黑" panose="020B0503020204020204" charset="-122"/>
                  </a:rPr>
                  <a:t>Fig. S32</a:t>
                </a:r>
                <a:endParaRPr lang="zh-CN" altLang="en-US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30" name="文本框 29"/>
          <p:cNvSpPr txBox="1"/>
          <p:nvPr/>
        </p:nvSpPr>
        <p:spPr>
          <a:xfrm>
            <a:off x="914400" y="5369040"/>
            <a:ext cx="110490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sz="2100" b="1" baseline="30000" dirty="0">
                <a:latin typeface="微软雅黑" panose="020B0503020204020204" charset="-122"/>
                <a:ea typeface="微软雅黑" panose="020B0503020204020204" charset="-122"/>
              </a:rPr>
              <a:t>27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Al MAS NMR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图中，在约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58ppm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出现四配位骨架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Al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，煅烧后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55-60ppm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信号仍保留，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表明部分骨架铝存在。</a:t>
            </a:r>
            <a:endParaRPr lang="en-US" altLang="zh-CN" sz="210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buAutoNum type="arabicPeriod"/>
            </a:pP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在约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220nm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吸收峰对应四配位骨架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Ti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220-330nm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宽带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表明存在部分五</a:t>
            </a:r>
            <a:r>
              <a:rPr lang="en-US" altLang="zh-CN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六配位</a:t>
            </a:r>
            <a:r>
              <a:rPr lang="en-US" altLang="zh-CN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Ti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物种</a:t>
            </a:r>
          </a:p>
        </p:txBody>
      </p:sp>
      <p:sp>
        <p:nvSpPr>
          <p:cNvPr id="31" name="Text 68"/>
          <p:cNvSpPr/>
          <p:nvPr/>
        </p:nvSpPr>
        <p:spPr>
          <a:xfrm>
            <a:off x="313551" y="619808"/>
            <a:ext cx="10507579" cy="46668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it-IT" altLang="zh-CN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l</a:t>
            </a:r>
            <a:r>
              <a:rPr lang="it-IT" altLang="zh-CN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/Ti</a:t>
            </a:r>
            <a:r>
              <a:rPr lang="zh-CN" altLang="en-US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杂原子的引</a:t>
            </a:r>
            <a:r>
              <a:rPr lang="zh-CN" altLang="it-IT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入</a:t>
            </a:r>
            <a:endParaRPr lang="en-US" altLang="zh-CN" sz="299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1" y="1024940"/>
            <a:ext cx="4825998" cy="405201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7294" y="652465"/>
            <a:ext cx="6433012" cy="44527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组合 101"/>
          <p:cNvGrpSpPr/>
          <p:nvPr/>
        </p:nvGrpSpPr>
        <p:grpSpPr>
          <a:xfrm>
            <a:off x="1695450" y="1067324"/>
            <a:ext cx="9191625" cy="3485369"/>
            <a:chOff x="1695450" y="762000"/>
            <a:chExt cx="9191625" cy="3832741"/>
          </a:xfrm>
        </p:grpSpPr>
        <p:pic>
          <p:nvPicPr>
            <p:cNvPr id="99" name="图片 9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5450" y="762000"/>
              <a:ext cx="9191625" cy="3648075"/>
            </a:xfrm>
            <a:prstGeom prst="rect">
              <a:avLst/>
            </a:prstGeom>
          </p:spPr>
        </p:pic>
        <p:sp>
          <p:nvSpPr>
            <p:cNvPr id="101" name="文本框 100"/>
            <p:cNvSpPr txBox="1"/>
            <p:nvPr/>
          </p:nvSpPr>
          <p:spPr>
            <a:xfrm>
              <a:off x="5193030" y="4225409"/>
              <a:ext cx="3505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latin typeface="微软雅黑" panose="020B0503020204020204" charset="-122"/>
                  <a:ea typeface="微软雅黑" panose="020B0503020204020204" charset="-122"/>
                </a:rPr>
                <a:t>Fig. S28 </a:t>
              </a: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</a:rPr>
                <a:t>酸性表征图</a:t>
              </a:r>
            </a:p>
          </p:txBody>
        </p:sp>
      </p:grpSp>
      <p:sp>
        <p:nvSpPr>
          <p:cNvPr id="106" name="文本框 105"/>
          <p:cNvSpPr txBox="1"/>
          <p:nvPr/>
        </p:nvSpPr>
        <p:spPr>
          <a:xfrm>
            <a:off x="1371600" y="4563534"/>
            <a:ext cx="10820400" cy="3484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1.1460 cm</a:t>
            </a:r>
            <a:r>
              <a:rPr lang="en-US" altLang="zh-CN" sz="2100" b="1" baseline="30000" dirty="0">
                <a:latin typeface="微软雅黑" panose="020B0503020204020204" charset="-122"/>
                <a:ea typeface="微软雅黑" panose="020B0503020204020204" charset="-122"/>
              </a:rPr>
              <a:t>⁻1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这个峰对应 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NH₃ 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被 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Brønsted 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酸位质子化形成 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NH</a:t>
            </a:r>
            <a:r>
              <a:rPr lang="en-US" altLang="zh-CN" sz="2100" b="1" baseline="-250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⁺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，说明存在提供 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H⁺ 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的酸位，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对应的是</a:t>
            </a:r>
            <a:r>
              <a:rPr lang="en-US" altLang="zh-CN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Brønsted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酸位点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1620cm</a:t>
            </a:r>
            <a:r>
              <a:rPr lang="en-US" altLang="zh-CN" sz="2100" b="1" baseline="30000" dirty="0">
                <a:latin typeface="微软雅黑" panose="020B0503020204020204" charset="-122"/>
                <a:ea typeface="微软雅黑" panose="020B0503020204020204" charset="-122"/>
              </a:rPr>
              <a:t>-1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处峰对应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NH</a:t>
            </a:r>
            <a:r>
              <a:rPr lang="en-US" altLang="zh-CN" sz="2100" b="1" baseline="-250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配位在 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Lewis 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酸位上，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表明存在</a:t>
            </a:r>
            <a:r>
              <a:rPr lang="en-US" altLang="zh-CN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Lewis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酸位点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b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2.1540 cm⁻¹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Py-H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对应 </a:t>
            </a:r>
            <a:r>
              <a:rPr lang="en-US" altLang="zh-CN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Brønsted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酸位点，</a:t>
            </a:r>
            <a:r>
              <a:rPr lang="en-US" altLang="zh-CN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1445 cm⁻¹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Py-L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对应</a:t>
            </a:r>
            <a:r>
              <a:rPr lang="en-US" altLang="zh-CN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Lewis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酸位点。</a:t>
            </a:r>
            <a:endParaRPr lang="en-US" altLang="zh-CN" sz="210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210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2100" dirty="0"/>
          </a:p>
          <a:p>
            <a:pPr>
              <a:lnSpc>
                <a:spcPct val="150000"/>
              </a:lnSpc>
            </a:pPr>
            <a:endParaRPr lang="zh-CN" altLang="en-US" sz="2100" dirty="0"/>
          </a:p>
        </p:txBody>
      </p:sp>
      <p:sp>
        <p:nvSpPr>
          <p:cNvPr id="109" name="Text 68"/>
          <p:cNvSpPr/>
          <p:nvPr/>
        </p:nvSpPr>
        <p:spPr>
          <a:xfrm>
            <a:off x="313551" y="619808"/>
            <a:ext cx="10507579" cy="46668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en-US" altLang="zh-CN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Al-NJU120-6</a:t>
            </a:r>
            <a:r>
              <a:rPr lang="zh-CN" altLang="en-US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的酸性位点</a:t>
            </a:r>
            <a:endParaRPr lang="en-US" altLang="zh-CN" sz="299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/>
          <p:cNvSpPr/>
          <p:nvPr/>
        </p:nvSpPr>
        <p:spPr>
          <a:xfrm>
            <a:off x="167416" y="1231997"/>
            <a:ext cx="7976047" cy="46976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6" name="Text 20"/>
          <p:cNvSpPr/>
          <p:nvPr/>
        </p:nvSpPr>
        <p:spPr>
          <a:xfrm>
            <a:off x="1467012" y="2235891"/>
            <a:ext cx="1576516" cy="277091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AI-NJU120-6</a:t>
            </a:r>
            <a:r>
              <a:rPr lang="zh-CN" altLang="en-US" sz="1600" b="1" dirty="0">
                <a:solidFill>
                  <a:schemeClr val="bg1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：酸催化验证</a:t>
            </a:r>
            <a:endParaRPr lang="en-US" altLang="zh-CN" sz="1600" b="1" dirty="0">
              <a:solidFill>
                <a:schemeClr val="bg1"/>
              </a:solidFill>
            </a:endParaRPr>
          </a:p>
        </p:txBody>
      </p:sp>
      <p:sp>
        <p:nvSpPr>
          <p:cNvPr id="109" name="Text 20"/>
          <p:cNvSpPr/>
          <p:nvPr/>
        </p:nvSpPr>
        <p:spPr>
          <a:xfrm>
            <a:off x="5118308" y="2224018"/>
            <a:ext cx="1576516" cy="277091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Ti-NJU120-6</a:t>
            </a:r>
            <a:r>
              <a:rPr lang="zh-CN" altLang="en-US" sz="1600" b="1" dirty="0">
                <a:solidFill>
                  <a:schemeClr val="bg1"/>
                </a:solidFill>
                <a:latin typeface="Noto Sans SC" panose="020B0500000000000000" pitchFamily="34" charset="-122"/>
                <a:ea typeface="Noto Sans SC" panose="020B0500000000000000" pitchFamily="34" charset="-122"/>
                <a:cs typeface="Noto Sans SC" panose="020B0500000000000000" pitchFamily="34" charset="-120"/>
              </a:rPr>
              <a:t>：氧化催化验证</a:t>
            </a:r>
            <a:endParaRPr lang="en-US" altLang="zh-CN" sz="1600" b="1" dirty="0">
              <a:solidFill>
                <a:schemeClr val="bg1"/>
              </a:solidFill>
            </a:endParaRPr>
          </a:p>
        </p:txBody>
      </p:sp>
      <p:pic>
        <p:nvPicPr>
          <p:cNvPr id="112" name="图片 1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04" y="1728334"/>
            <a:ext cx="3900204" cy="2726550"/>
          </a:xfrm>
          <a:prstGeom prst="rect">
            <a:avLst/>
          </a:prstGeom>
        </p:spPr>
      </p:pic>
      <p:pic>
        <p:nvPicPr>
          <p:cNvPr id="114" name="图片 1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646" y="1832095"/>
            <a:ext cx="3916022" cy="2518226"/>
          </a:xfrm>
          <a:prstGeom prst="rect">
            <a:avLst/>
          </a:prstGeom>
        </p:spPr>
      </p:pic>
      <p:sp>
        <p:nvSpPr>
          <p:cNvPr id="7" name="矩形: 圆角 6"/>
          <p:cNvSpPr/>
          <p:nvPr/>
        </p:nvSpPr>
        <p:spPr>
          <a:xfrm>
            <a:off x="8316271" y="1231997"/>
            <a:ext cx="3708313" cy="468701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1651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Al-NJU120-6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Gasoline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Diesel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sz="16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选择性更好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Al-NJU120-6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coke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含量更低，</a:t>
            </a:r>
            <a:r>
              <a:rPr lang="zh-CN" altLang="en-US" sz="16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能抑制过度裂化和积炭，抗失活能力更强。</a:t>
            </a:r>
            <a:endParaRPr lang="en-US" altLang="zh-CN" sz="160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Ti-NJU120-6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有</a:t>
            </a:r>
            <a:r>
              <a:rPr lang="zh-CN" altLang="en-US" sz="16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最高的环氧化产率。</a:t>
            </a:r>
            <a:endParaRPr lang="en-US" altLang="zh-CN" sz="160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Ti-NJU120-6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 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TON 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最高，</a:t>
            </a:r>
            <a:r>
              <a:rPr lang="zh-CN" altLang="en-US" sz="16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说明单位活性位效率更高。</a:t>
            </a:r>
            <a:endParaRPr lang="en-US" altLang="zh-CN" sz="160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 68"/>
          <p:cNvSpPr/>
          <p:nvPr/>
        </p:nvSpPr>
        <p:spPr>
          <a:xfrm>
            <a:off x="313551" y="619808"/>
            <a:ext cx="10507579" cy="46668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en-US" altLang="zh-CN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Al/Ti-NJU120-6</a:t>
            </a:r>
            <a:r>
              <a:rPr lang="zh-CN" altLang="en-US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sz="2990" b="1" dirty="0" err="1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催化性</a:t>
            </a:r>
            <a:r>
              <a:rPr lang="zh-CN" altLang="en-US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能</a:t>
            </a:r>
            <a:endParaRPr lang="en-US" altLang="zh-CN" sz="299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85517" y="4507468"/>
            <a:ext cx="3916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Fig. 4C VGO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裂化产物分布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658744" y="4507468"/>
            <a:ext cx="3916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Fig. 4D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环辛烯环氧化性能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63763" y="1365331"/>
            <a:ext cx="11647237" cy="4245539"/>
            <a:chOff x="371171" y="1674124"/>
            <a:chExt cx="11552053" cy="4245539"/>
          </a:xfrm>
        </p:grpSpPr>
        <p:sp>
          <p:nvSpPr>
            <p:cNvPr id="24" name="矩形: 圆角 23"/>
            <p:cNvSpPr/>
            <p:nvPr/>
          </p:nvSpPr>
          <p:spPr>
            <a:xfrm>
              <a:off x="371171" y="1674124"/>
              <a:ext cx="6805992" cy="42455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165100" algn="ctr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Text 25"/>
            <p:cNvSpPr/>
            <p:nvPr/>
          </p:nvSpPr>
          <p:spPr>
            <a:xfrm>
              <a:off x="2655282" y="5324634"/>
              <a:ext cx="2564838" cy="370936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normAutofit/>
            </a:bodyPr>
            <a:lstStyle/>
            <a:p>
              <a:r>
                <a:rPr lang="en-US" altLang="zh-CN" sz="1600" b="1" dirty="0">
                  <a:latin typeface="微软雅黑" panose="020B0503020204020204" charset="-122"/>
                  <a:ea typeface="微软雅黑" panose="020B0503020204020204" charset="-122"/>
                </a:rPr>
                <a:t>Fig. S29 </a:t>
              </a:r>
              <a:r>
                <a:rPr lang="en-US" sz="1600" b="1" dirty="0" err="1">
                  <a:latin typeface="微软雅黑" panose="020B0503020204020204" charset="-122"/>
                  <a:ea typeface="微软雅黑" panose="020B0503020204020204" charset="-122"/>
                </a:rPr>
                <a:t>VGO</a:t>
              </a:r>
              <a:r>
                <a:rPr lang="en-US" sz="1600" b="1" dirty="0" err="1">
                  <a:latin typeface="微软雅黑" panose="020B0503020204020204" charset="-122"/>
                  <a:ea typeface="微软雅黑" panose="020B0503020204020204" charset="-122"/>
                  <a:cs typeface="Noto Sans SC" panose="020B0500000000000000" pitchFamily="34" charset="-120"/>
                </a:rPr>
                <a:t>裂化产</a:t>
              </a:r>
              <a:r>
                <a:rPr lang="zh-CN" altLang="en-US" sz="1600" b="1" dirty="0">
                  <a:latin typeface="微软雅黑" panose="020B0503020204020204" charset="-122"/>
                  <a:ea typeface="微软雅黑" panose="020B0503020204020204" charset="-122"/>
                  <a:cs typeface="Noto Sans SC" panose="020B0500000000000000" pitchFamily="34" charset="-120"/>
                </a:rPr>
                <a:t>物</a:t>
              </a:r>
              <a:r>
                <a:rPr lang="en-US" sz="1600" b="1" dirty="0" err="1">
                  <a:latin typeface="微软雅黑" panose="020B0503020204020204" charset="-122"/>
                  <a:ea typeface="微软雅黑" panose="020B0503020204020204" charset="-122"/>
                  <a:cs typeface="Noto Sans SC" panose="020B0500000000000000" pitchFamily="34" charset="-120"/>
                </a:rPr>
                <a:t>分布</a:t>
              </a:r>
              <a:endParaRPr lang="en-US" sz="16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2521" y="1754232"/>
              <a:ext cx="5143293" cy="3570402"/>
            </a:xfrm>
            <a:prstGeom prst="rect">
              <a:avLst/>
            </a:prstGeom>
          </p:spPr>
        </p:pic>
        <p:sp>
          <p:nvSpPr>
            <p:cNvPr id="7" name="矩形: 圆角 6"/>
            <p:cNvSpPr/>
            <p:nvPr/>
          </p:nvSpPr>
          <p:spPr>
            <a:xfrm>
              <a:off x="7533797" y="1674125"/>
              <a:ext cx="4389427" cy="424553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165100" algn="ctr" rotWithShape="0">
                <a:prstClr val="black">
                  <a:alpha val="21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57200" indent="-457200">
                <a:buAutoNum type="arabicPeriod"/>
              </a:pPr>
              <a:r>
                <a:rPr lang="en-US" altLang="zh-CN" sz="2100" b="1" dirty="0" err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VGO裂化</a:t>
              </a:r>
              <a:r>
                <a:rPr lang="zh-CN" altLang="en-US" sz="21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反应的主要产物是</a:t>
              </a:r>
              <a:r>
                <a:rPr lang="en-US" altLang="zh-CN" sz="21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Gasoline </a:t>
              </a:r>
              <a:r>
                <a:rPr lang="zh-CN" altLang="en-US" sz="21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和</a:t>
              </a:r>
              <a:r>
                <a:rPr lang="en-US" altLang="zh-CN" sz="21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Diesel</a:t>
              </a:r>
              <a:r>
                <a:rPr lang="zh-CN" altLang="en-US" sz="21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，表明</a:t>
              </a:r>
              <a:r>
                <a:rPr lang="en-US" altLang="zh-CN" sz="2400" b="1" dirty="0">
                  <a:solidFill>
                    <a:srgbClr val="8B0D18"/>
                  </a:solidFill>
                  <a:latin typeface="Noto Sans SC" panose="020B0500000000000000" pitchFamily="34" charset="-122"/>
                  <a:ea typeface="Noto Sans SC" panose="020B0500000000000000" pitchFamily="34" charset="-122"/>
                </a:rPr>
                <a:t>phosphorus free NJU120-6</a:t>
              </a:r>
              <a:r>
                <a:rPr lang="zh-CN" altLang="en-US" sz="2400" b="1" dirty="0">
                  <a:solidFill>
                    <a:srgbClr val="8B0D18"/>
                  </a:solidFill>
                  <a:latin typeface="Noto Sans SC" panose="020B0500000000000000" pitchFamily="34" charset="-122"/>
                  <a:ea typeface="Noto Sans SC" panose="020B0500000000000000" pitchFamily="34" charset="-122"/>
                </a:rPr>
                <a:t>选择性好</a:t>
              </a:r>
              <a:r>
                <a:rPr lang="zh-CN" altLang="en-US" sz="21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。</a:t>
              </a:r>
              <a:endParaRPr lang="en-US" altLang="zh-CN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457200" indent="-457200">
                <a:buFontTx/>
                <a:buAutoNum type="arabicPeriod"/>
              </a:pPr>
              <a:r>
                <a:rPr lang="en-US" altLang="zh-CN" sz="21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LPG</a:t>
              </a:r>
              <a:r>
                <a:rPr lang="zh-CN" altLang="en-US" sz="21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、</a:t>
              </a:r>
              <a:r>
                <a:rPr lang="en-US" altLang="zh-CN" sz="21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dry gas</a:t>
              </a:r>
              <a:r>
                <a:rPr lang="zh-CN" altLang="en-US" sz="21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、</a:t>
              </a:r>
              <a:r>
                <a:rPr lang="en-US" altLang="zh-CN" sz="21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coke</a:t>
              </a:r>
              <a:r>
                <a:rPr lang="zh-CN" altLang="en-US" sz="21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含量都很低，表明</a:t>
              </a:r>
              <a:r>
                <a:rPr lang="en-US" altLang="zh-CN" sz="2400" b="1" dirty="0">
                  <a:solidFill>
                    <a:srgbClr val="8B0D18"/>
                  </a:solidFill>
                  <a:latin typeface="Noto Sans SC" panose="020B0500000000000000" pitchFamily="34" charset="-122"/>
                  <a:ea typeface="Noto Sans SC" panose="020B0500000000000000" pitchFamily="34" charset="-122"/>
                </a:rPr>
                <a:t>phosphorus free NJU120-6</a:t>
              </a:r>
              <a:r>
                <a:rPr lang="zh-CN" altLang="en-US" sz="2400" b="1" dirty="0">
                  <a:solidFill>
                    <a:srgbClr val="8B0D18"/>
                  </a:solidFill>
                  <a:latin typeface="Noto Sans SC" panose="020B0500000000000000" pitchFamily="34" charset="-122"/>
                  <a:ea typeface="Noto Sans SC" panose="020B0500000000000000" pitchFamily="34" charset="-122"/>
                  <a:cs typeface="Noto Sans SC" panose="020B0500000000000000" pitchFamily="34" charset="-120"/>
                </a:rPr>
                <a:t>副反应少。</a:t>
              </a:r>
              <a:endParaRPr lang="en-US" altLang="zh-CN" sz="21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500000000000000" pitchFamily="34" charset="-120"/>
              </a:endParaRPr>
            </a:p>
            <a:p>
              <a:pPr marL="457200" indent="-457200">
                <a:buFontTx/>
                <a:buAutoNum type="arabicPeriod"/>
              </a:pPr>
              <a:r>
                <a:rPr lang="en-US" altLang="zh-CN" sz="21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Run 1-Run 5 </a:t>
              </a:r>
              <a:r>
                <a:rPr lang="zh-CN" altLang="en-US" sz="21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产物分布变化不大，</a:t>
              </a:r>
              <a:r>
                <a:rPr lang="zh-CN" altLang="en-US" sz="2400" b="1" dirty="0">
                  <a:solidFill>
                    <a:srgbClr val="8B0D18"/>
                  </a:solidFill>
                  <a:latin typeface="Noto Sans SC" panose="020B0500000000000000" pitchFamily="34" charset="-122"/>
                  <a:ea typeface="Noto Sans SC" panose="020B0500000000000000" pitchFamily="34" charset="-122"/>
                </a:rPr>
                <a:t>表明催化剂稳定性好。</a:t>
              </a:r>
              <a:endParaRPr lang="en-US" altLang="zh-CN" sz="2400" b="1" dirty="0">
                <a:solidFill>
                  <a:srgbClr val="8B0D18"/>
                </a:solidFill>
                <a:latin typeface="Noto Sans SC" panose="020B0500000000000000" pitchFamily="34" charset="-122"/>
                <a:ea typeface="Noto Sans SC" panose="020B0500000000000000" pitchFamily="34" charset="-122"/>
              </a:endParaRPr>
            </a:p>
          </p:txBody>
        </p:sp>
      </p:grpSp>
      <p:sp>
        <p:nvSpPr>
          <p:cNvPr id="31" name="Text 68"/>
          <p:cNvSpPr/>
          <p:nvPr/>
        </p:nvSpPr>
        <p:spPr>
          <a:xfrm>
            <a:off x="313551" y="619808"/>
            <a:ext cx="10507579" cy="46668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zh-CN" altLang="en-US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连续 </a:t>
            </a:r>
            <a:r>
              <a:rPr lang="en-US" altLang="zh-CN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VGO</a:t>
            </a:r>
            <a:r>
              <a:rPr lang="zh-CN" altLang="en-US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裂化稳定性</a:t>
            </a:r>
            <a:endParaRPr lang="en-US" altLang="zh-CN" sz="299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059" y="1292943"/>
            <a:ext cx="3916022" cy="251822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400157" y="3974068"/>
            <a:ext cx="3916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Fig. 4D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环辛烯环氧化性能</a:t>
            </a:r>
          </a:p>
        </p:txBody>
      </p:sp>
      <p:sp>
        <p:nvSpPr>
          <p:cNvPr id="12" name="Text 68"/>
          <p:cNvSpPr/>
          <p:nvPr/>
        </p:nvSpPr>
        <p:spPr>
          <a:xfrm>
            <a:off x="313551" y="619808"/>
            <a:ext cx="10507579" cy="46668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en-US" altLang="zh-CN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Ti-NJU120-6 </a:t>
            </a:r>
            <a:r>
              <a:rPr lang="zh-CN" altLang="en-US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的环辛烯环氧化性能</a:t>
            </a:r>
            <a:endParaRPr lang="en-US" altLang="zh-CN" sz="299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26903"/>
            <a:ext cx="7530118" cy="2696782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295399" y="3974068"/>
            <a:ext cx="66606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Fig.S33 Ti-NJU120-6与对照Ti分子筛的环辛烯环氧化性能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981200" y="4517185"/>
            <a:ext cx="9753600" cy="253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1.Ti-NJU120-6 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在反应过程中保持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最高环氧化产率。</a:t>
            </a:r>
            <a:endParaRPr lang="en-US" altLang="zh-CN" sz="210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单位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Ti 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位点生成量高于对照样品，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位点利用效率更高。</a:t>
            </a:r>
            <a:endParaRPr lang="en-US" altLang="zh-CN" sz="210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这可能与</a:t>
            </a:r>
            <a:r>
              <a:rPr lang="en-US" altLang="zh-CN" sz="2100" b="1" dirty="0">
                <a:latin typeface="微软雅黑" panose="020B0503020204020204" charset="-122"/>
                <a:ea typeface="微软雅黑" panose="020B0503020204020204" charset="-122"/>
              </a:rPr>
              <a:t>36R</a:t>
            </a:r>
            <a:r>
              <a:rPr lang="zh-CN" altLang="en-US" sz="2100" b="1" dirty="0">
                <a:latin typeface="微软雅黑" panose="020B0503020204020204" charset="-122"/>
                <a:ea typeface="微软雅黑" panose="020B0503020204020204" charset="-122"/>
              </a:rPr>
              <a:t>介孔通道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有利于大分子扩散与接触</a:t>
            </a:r>
            <a:r>
              <a:rPr lang="en-US" altLang="zh-CN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Ti </a:t>
            </a:r>
            <a:r>
              <a:rPr lang="zh-CN" altLang="en-US" sz="210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氧化活性位有关。</a:t>
            </a:r>
            <a:endParaRPr lang="en-US" altLang="zh-CN" sz="210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2100" dirty="0"/>
          </a:p>
          <a:p>
            <a:pPr>
              <a:lnSpc>
                <a:spcPct val="150000"/>
              </a:lnSpc>
            </a:pPr>
            <a:endParaRPr lang="zh-CN" alt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383302" y="4537754"/>
            <a:ext cx="11477397" cy="1144823"/>
          </a:xfrm>
          <a:prstGeom prst="rect">
            <a:avLst/>
          </a:prstGeom>
          <a:solidFill>
            <a:srgbClr val="FCFDFD"/>
          </a:solidFill>
        </p:spPr>
        <p:txBody>
          <a:bodyPr/>
          <a:lstStyle/>
          <a:p>
            <a:endParaRPr lang="zh-CN" altLang="en-US" sz="2400"/>
          </a:p>
        </p:txBody>
      </p:sp>
      <p:sp>
        <p:nvSpPr>
          <p:cNvPr id="14" name="Shape 9"/>
          <p:cNvSpPr/>
          <p:nvPr/>
        </p:nvSpPr>
        <p:spPr>
          <a:xfrm>
            <a:off x="274524" y="3341587"/>
            <a:ext cx="11397187" cy="1152115"/>
          </a:xfrm>
          <a:prstGeom prst="rect">
            <a:avLst/>
          </a:prstGeom>
          <a:solidFill>
            <a:srgbClr val="FDFDFD"/>
          </a:solidFill>
        </p:spPr>
        <p:txBody>
          <a:bodyPr/>
          <a:lstStyle/>
          <a:p>
            <a:endParaRPr lang="zh-CN" altLang="en-US" sz="2400"/>
          </a:p>
        </p:txBody>
      </p:sp>
      <p:sp>
        <p:nvSpPr>
          <p:cNvPr id="2" name="Text 68"/>
          <p:cNvSpPr/>
          <p:nvPr/>
        </p:nvSpPr>
        <p:spPr>
          <a:xfrm>
            <a:off x="313551" y="619808"/>
            <a:ext cx="10507579" cy="46668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zh-CN" altLang="en-US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论文总结</a:t>
            </a:r>
            <a:endParaRPr lang="en-US" altLang="zh-CN" sz="299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98509" y="1447800"/>
            <a:ext cx="10972800" cy="4577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采用双膦鎓有机模板剂，成功合成稳定高硅沸石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NJU120-6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；其骨架具有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36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元环窗口超大孔口和近圆柱形的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1D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直通介孔，自由孔径达到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25.71 × 19.12 Å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50000"/>
              </a:lnSpc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通过 </a:t>
            </a:r>
            <a:r>
              <a:rPr lang="en-US" altLang="zh-CN" sz="2000" b="1" dirty="0" err="1">
                <a:latin typeface="微软雅黑" panose="020B0503020204020204" charset="-122"/>
                <a:ea typeface="微软雅黑" panose="020B0503020204020204" charset="-122"/>
              </a:rPr>
              <a:t>cRED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Rietveld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精修、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STEM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、吸附与热稳定性表征，证实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NJU120-6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具有有序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36R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孔道，并在高温处理后仍保持晶体结构与孔结构。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50000"/>
              </a:lnSpc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通过引入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Al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和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Ti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NJU120-6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分别表现出大分子裂化与烯烃环氧化催化性能，表明其可作为大分子转化的高硅沸石骨架。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8"/>
          <p:cNvSpPr/>
          <p:nvPr/>
        </p:nvSpPr>
        <p:spPr>
          <a:xfrm>
            <a:off x="313551" y="619808"/>
            <a:ext cx="10507579" cy="46668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r>
              <a:rPr lang="zh-CN" altLang="en-US" sz="2990" b="1" dirty="0">
                <a:solidFill>
                  <a:srgbClr val="8B0D18"/>
                </a:solidFill>
                <a:latin typeface="微软雅黑" panose="020B0503020204020204" charset="-122"/>
                <a:ea typeface="微软雅黑" panose="020B0503020204020204" charset="-122"/>
              </a:rPr>
              <a:t>论文启发</a:t>
            </a:r>
            <a:endParaRPr lang="en-US" altLang="zh-CN" sz="2990" b="1" dirty="0">
              <a:solidFill>
                <a:srgbClr val="8B0D1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98509" y="1447800"/>
            <a:ext cx="10972800" cy="3038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多孔材料不能只看孔径大小，还要结合孔道形状、骨架稳定性以及实际催化表现综合判断。</a:t>
            </a:r>
          </a:p>
          <a:p>
            <a:pPr>
              <a:lnSpc>
                <a:spcPct val="250000"/>
              </a:lnSpc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2.NJU120-6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已在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VGO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裂化和环辛烯环氧化中显示出应用潜力，但在更复杂底物体系和更长反应周期中的稳定性仍需进一步验证。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50000"/>
              </a:lnSpc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同一个特性需要使用多种方法去验证。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文本框 77"/>
          <p:cNvSpPr txBox="1"/>
          <p:nvPr/>
        </p:nvSpPr>
        <p:spPr>
          <a:xfrm>
            <a:off x="854597" y="2967335"/>
            <a:ext cx="10860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pc="100" dirty="0">
                <a:latin typeface="微软雅黑" panose="020B0503020204020204" charset="-122"/>
                <a:ea typeface="微软雅黑" panose="020B0503020204020204" charset="-122"/>
              </a:rPr>
              <a:t>汇报完毕，敬请批评指正！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6397624"/>
            <a:ext cx="12192000" cy="460376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8B0D1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B0D18"/>
      </a:accent1>
      <a:accent2>
        <a:srgbClr val="ED7D31"/>
      </a:accent2>
      <a:accent3>
        <a:srgbClr val="A5A5A5"/>
      </a:accent3>
      <a:accent4>
        <a:srgbClr val="FFC000"/>
      </a:accent4>
      <a:accent5>
        <a:srgbClr val="8B0D18"/>
      </a:accent5>
      <a:accent6>
        <a:srgbClr val="70AD47"/>
      </a:accent6>
      <a:hlink>
        <a:srgbClr val="8B0D18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8B0D18"/>
      </a:accent1>
      <a:accent2>
        <a:srgbClr val="E97132"/>
      </a:accent2>
      <a:accent3>
        <a:srgbClr val="196B24"/>
      </a:accent3>
      <a:accent4>
        <a:srgbClr val="8B0D18"/>
      </a:accent4>
      <a:accent5>
        <a:srgbClr val="A02B93"/>
      </a:accent5>
      <a:accent6>
        <a:srgbClr val="4EA72E"/>
      </a:accent6>
      <a:hlink>
        <a:srgbClr val="8B0D18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8B0D18"/>
      </a:accent1>
      <a:accent2>
        <a:srgbClr val="E97132"/>
      </a:accent2>
      <a:accent3>
        <a:srgbClr val="196B24"/>
      </a:accent3>
      <a:accent4>
        <a:srgbClr val="8B0D18"/>
      </a:accent4>
      <a:accent5>
        <a:srgbClr val="A02B93"/>
      </a:accent5>
      <a:accent6>
        <a:srgbClr val="4EA72E"/>
      </a:accent6>
      <a:hlink>
        <a:srgbClr val="8B0D18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8B0D18"/>
      </a:accent1>
      <a:accent2>
        <a:srgbClr val="E97132"/>
      </a:accent2>
      <a:accent3>
        <a:srgbClr val="196B24"/>
      </a:accent3>
      <a:accent4>
        <a:srgbClr val="8B0D18"/>
      </a:accent4>
      <a:accent5>
        <a:srgbClr val="A02B93"/>
      </a:accent5>
      <a:accent6>
        <a:srgbClr val="4EA72E"/>
      </a:accent6>
      <a:hlink>
        <a:srgbClr val="8B0D18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8B0D18"/>
      </a:accent1>
      <a:accent2>
        <a:srgbClr val="E97132"/>
      </a:accent2>
      <a:accent3>
        <a:srgbClr val="196B24"/>
      </a:accent3>
      <a:accent4>
        <a:srgbClr val="8B0D18"/>
      </a:accent4>
      <a:accent5>
        <a:srgbClr val="A02B93"/>
      </a:accent5>
      <a:accent6>
        <a:srgbClr val="4EA72E"/>
      </a:accent6>
      <a:hlink>
        <a:srgbClr val="8B0D18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8B0D18"/>
      </a:accent1>
      <a:accent2>
        <a:srgbClr val="E97132"/>
      </a:accent2>
      <a:accent3>
        <a:srgbClr val="196B24"/>
      </a:accent3>
      <a:accent4>
        <a:srgbClr val="8B0D18"/>
      </a:accent4>
      <a:accent5>
        <a:srgbClr val="A02B93"/>
      </a:accent5>
      <a:accent6>
        <a:srgbClr val="4EA72E"/>
      </a:accent6>
      <a:hlink>
        <a:srgbClr val="8B0D18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8B0D18"/>
      </a:accent1>
      <a:accent2>
        <a:srgbClr val="E97132"/>
      </a:accent2>
      <a:accent3>
        <a:srgbClr val="196B24"/>
      </a:accent3>
      <a:accent4>
        <a:srgbClr val="8B0D18"/>
      </a:accent4>
      <a:accent5>
        <a:srgbClr val="A02B93"/>
      </a:accent5>
      <a:accent6>
        <a:srgbClr val="4EA72E"/>
      </a:accent6>
      <a:hlink>
        <a:srgbClr val="8B0D18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8B0D18"/>
      </a:accent1>
      <a:accent2>
        <a:srgbClr val="E97132"/>
      </a:accent2>
      <a:accent3>
        <a:srgbClr val="196B24"/>
      </a:accent3>
      <a:accent4>
        <a:srgbClr val="8B0D18"/>
      </a:accent4>
      <a:accent5>
        <a:srgbClr val="A02B93"/>
      </a:accent5>
      <a:accent6>
        <a:srgbClr val="4EA72E"/>
      </a:accent6>
      <a:hlink>
        <a:srgbClr val="8B0D18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8B0D18"/>
      </a:accent1>
      <a:accent2>
        <a:srgbClr val="E97132"/>
      </a:accent2>
      <a:accent3>
        <a:srgbClr val="196B24"/>
      </a:accent3>
      <a:accent4>
        <a:srgbClr val="8B0D18"/>
      </a:accent4>
      <a:accent5>
        <a:srgbClr val="A02B93"/>
      </a:accent5>
      <a:accent6>
        <a:srgbClr val="4EA72E"/>
      </a:accent6>
      <a:hlink>
        <a:srgbClr val="8B0D18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1840</Words>
  <Application>Microsoft Office PowerPoint</Application>
  <PresentationFormat>宽屏</PresentationFormat>
  <Paragraphs>157</Paragraphs>
  <Slides>20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Inter</vt:lpstr>
      <vt:lpstr>Noto Sans CJK SC</vt:lpstr>
      <vt:lpstr>Noto Sans SC</vt:lpstr>
      <vt:lpstr>微软雅黑</vt:lpstr>
      <vt:lpstr>Arial</vt:lpstr>
      <vt:lpstr>Times New Roman</vt:lpstr>
      <vt:lpstr>Office Theme</vt:lpstr>
      <vt:lpstr>5_自定义设计方案</vt:lpstr>
      <vt:lpstr>自定义设计方案</vt:lpstr>
      <vt:lpstr>7_自定义设计方案</vt:lpstr>
      <vt:lpstr>1_自定义设计方案</vt:lpstr>
      <vt:lpstr>4_自定义设计方案</vt:lpstr>
      <vt:lpstr>3_自定义设计方案</vt:lpstr>
      <vt:lpstr>6_自定义设计方案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36-ring zeolite with intrinsic cylindrical mesopores - 中文组会汇报</dc:title>
  <dc:subject>材料化学 / 多孔材料 / 沸石催化 文献组会</dc:subject>
  <dc:creator>OpenAI</dc:creator>
  <cp:lastModifiedBy>yuan su</cp:lastModifiedBy>
  <cp:revision>441</cp:revision>
  <dcterms:created xsi:type="dcterms:W3CDTF">2026-04-15T08:59:00Z</dcterms:created>
  <dcterms:modified xsi:type="dcterms:W3CDTF">2026-04-25T13:00:19Z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15A3665F7F054A898CA594EF459394C4_12</vt:lpwstr>
  </property>
  <property fmtid="{D5CDD505-2E9C-101B-9397-08002B2CF9AE}" pid="3" name="KSOProductBuildVer">
    <vt:lpwstr>2052-12.8.2.19823</vt:lpwstr>
  </property>
</Properties>
</file>